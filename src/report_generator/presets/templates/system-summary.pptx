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5"/>
  </p:notesMasterIdLst>
  <p:handoutMasterIdLst>
    <p:handoutMasterId r:id="rId26"/>
  </p:handoutMasterIdLst>
  <p:sldIdLst>
    <p:sldId id="1973" r:id="rId6"/>
    <p:sldId id="2010" r:id="rId7"/>
    <p:sldId id="11288" r:id="rId8"/>
    <p:sldId id="11394" r:id="rId9"/>
    <p:sldId id="2011" r:id="rId10"/>
    <p:sldId id="11482" r:id="rId11"/>
    <p:sldId id="11330" r:id="rId12"/>
    <p:sldId id="1988" r:id="rId13"/>
    <p:sldId id="2016" r:id="rId14"/>
    <p:sldId id="1824" r:id="rId15"/>
    <p:sldId id="11430" r:id="rId16"/>
    <p:sldId id="11483" r:id="rId17"/>
    <p:sldId id="11484" r:id="rId18"/>
    <p:sldId id="11481" r:id="rId19"/>
    <p:sldId id="11485" r:id="rId20"/>
    <p:sldId id="11486" r:id="rId21"/>
    <p:sldId id="2184" r:id="rId22"/>
    <p:sldId id="11487" r:id="rId23"/>
    <p:sldId id="1148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288"/>
            <p14:sldId id="11394"/>
            <p14:sldId id="2011"/>
          </p14:sldIdLst>
        </p14:section>
        <p14:section name="Cost Estimation Model" id="{27B7B39D-A53A-0E42-877A-CE78F793FEC4}">
          <p14:sldIdLst>
            <p14:sldId id="11482"/>
            <p14:sldId id="11330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5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19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emf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B7C8C91-AAEE-88A6-BA81-7A5C3377C97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750390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F1E7B407-491E-C161-9E2F-BB358CDF7912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C89DA33C-62C3-28D0-7E83-E5BCB3EC0D72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C30E21-03D0-E176-48CC-E0A928A302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GB" dirty="0"/>
              <a:t>System Metadata Overview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FB862-C01C-1641-7BFB-3619861959D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F2885-3B34-E982-B629-94D5575076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23B51F-B4CF-A232-65A9-E0C75114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>
                <a:latin typeface="Noir Pro Medium"/>
              </a:rPr>
              <a:t>Metadata overview for system SYSTEM_NAME</a:t>
            </a:r>
            <a:endParaRPr lang="en-GB" dirty="0"/>
          </a:p>
        </p:txBody>
      </p:sp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09A0B31C-AF41-29A5-D80B-73D37328C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613492"/>
              </p:ext>
            </p:extLst>
          </p:nvPr>
        </p:nvGraphicFramePr>
        <p:xfrm>
          <a:off x="582448" y="1509955"/>
          <a:ext cx="5222328" cy="3305539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5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General information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Full System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SYSTEM_FULL_NAME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Display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Division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METADATA_DIVISION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Team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METADATA_TEAM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Supplier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METADATA_SUPPLIER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Remark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METADATA_REMARK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Status Active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METADATA_STATUS_ACTIVE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Excluded from Dashboards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METADATA_EXCLUDED_FROM_DASHBOARDS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</a:tbl>
          </a:graphicData>
        </a:graphic>
      </p:graphicFrame>
      <p:graphicFrame>
        <p:nvGraphicFramePr>
          <p:cNvPr id="23" name="Table 10">
            <a:extLst>
              <a:ext uri="{FF2B5EF4-FFF2-40B4-BE49-F238E27FC236}">
                <a16:creationId xmlns:a16="http://schemas.microsoft.com/office/drawing/2014/main" id="{B0FB2279-02D8-F84F-22E7-354A13384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644355"/>
              </p:ext>
            </p:extLst>
          </p:nvPr>
        </p:nvGraphicFramePr>
        <p:xfrm>
          <a:off x="6387224" y="1505382"/>
          <a:ext cx="5222328" cy="389955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26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Metadata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 production since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METADATA_IN_PRODUCTION_SINCE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Business criticality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METADATA_BUSINESS_CRITICALITY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Lifecycle phase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METADATA_LIFECYCLE_PHASE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Target industry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METADATA_TARGET_INDUSTRY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Deployment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METADATA_DEPLOYMENT_TYPE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Application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METADATA_APPLICATION_TYPE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Distribution strategy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METADATA_DISTRIBUTION_STRATEGY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ID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METADATA_EXTERNAL_ID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display 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METADATA_EXTERNAL_DISPLAY_NAME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197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5754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MAINT_RELATIVE_COST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Calibri" panose="020F0502020204030204" pitchFamily="34" charset="0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CC222B10-C35A-E1BF-3C6F-DEEE025002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Cost Estimation Model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Cost Estimation model combines Sigrid analysis results with SIG benchmarks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The Cost Estimation Model (CEM) enables translating technical analysis results to cost estimations. 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most important input for the CEM are the maintainability analysis results. This is mandatory. CEM then combines this with </a:t>
            </a: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SIG’s benchmarks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on productivity and maintainability.</a:t>
            </a:r>
            <a:endParaRPr kumimoji="0" lang="en-US" sz="1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Cost estimations form key input for scenario comparison.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9163152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5595"/>
            <a:ext cx="403047" cy="343715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/>
          </p:cNvSpPr>
          <p:nvPr/>
        </p:nvSpPr>
        <p:spPr>
          <a:xfrm>
            <a:off x="3324388" y="3825339"/>
            <a:ext cx="126489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/>
          </p:cNvSpPr>
          <p:nvPr/>
        </p:nvSpPr>
        <p:spPr>
          <a:xfrm>
            <a:off x="3467971" y="4563771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/>
          </p:cNvSpPr>
          <p:nvPr/>
        </p:nvSpPr>
        <p:spPr>
          <a:xfrm>
            <a:off x="3645999" y="4985107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/>
          </p:cNvSpPr>
          <p:nvPr/>
        </p:nvSpPr>
        <p:spPr>
          <a:xfrm>
            <a:off x="393577" y="2957541"/>
            <a:ext cx="2933901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Language productivity benchmark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/>
          </p:cNvSpPr>
          <p:nvPr/>
        </p:nvSpPr>
        <p:spPr>
          <a:xfrm>
            <a:off x="225737" y="3691833"/>
            <a:ext cx="3058740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Maintainability benchmark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/>
          </p:cNvSpPr>
          <p:nvPr/>
        </p:nvSpPr>
        <p:spPr>
          <a:xfrm>
            <a:off x="942233" y="4426125"/>
            <a:ext cx="2472300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Software metric results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/>
          </p:cNvSpPr>
          <p:nvPr/>
        </p:nvSpPr>
        <p:spPr>
          <a:xfrm>
            <a:off x="2044729" y="4851797"/>
            <a:ext cx="1518514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Configuration</a:t>
            </a:r>
          </a:p>
        </p:txBody>
      </p:sp>
    </p:spTree>
    <p:extLst>
      <p:ext uri="{BB962C8B-B14F-4D97-AF65-F5344CB8AC3E}">
        <p14:creationId xmlns:p14="http://schemas.microsoft.com/office/powerpoint/2010/main" val="837537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D655E-F97C-8287-6A0E-D45434C8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ABE8-C279-D9E6-AC8C-52F1BD5E75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Cost estimation</a:t>
            </a:r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14C925DB-E118-F4E3-AF41-5BD45439B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5575" y="1411288"/>
            <a:ext cx="8245902" cy="48418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code volume totals </a:t>
            </a:r>
            <a:r>
              <a:rPr lang="en-US" noProof="0" dirty="0" err="1"/>
              <a:t>SYSTEM_PY</a:t>
            </a:r>
            <a:r>
              <a:rPr lang="en-US" noProof="0" dirty="0"/>
              <a:t> person years of theoretical rebuild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average maintainability level is </a:t>
            </a:r>
            <a:r>
              <a:rPr lang="en-US" noProof="0" dirty="0" err="1"/>
              <a:t>MAINT_RELATIVE</a:t>
            </a:r>
            <a:r>
              <a:rPr lang="en-US" noProof="0" dirty="0"/>
              <a:t>. For modern systems built in common technologies, at minimum a 4-star rating is recommended to avoid unnecessary maintenance cost.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MAINTENANCE_FTE</a:t>
            </a:r>
            <a:r>
              <a:rPr lang="en-US" noProof="0" dirty="0"/>
              <a:t> FTE of development effort is recommended for maintenance alone.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Approximately </a:t>
            </a:r>
            <a:r>
              <a:rPr lang="en-US" dirty="0"/>
              <a:t>RENOVATION_EFFORT_PY</a:t>
            </a:r>
            <a:r>
              <a:rPr lang="en-US" noProof="0" dirty="0"/>
              <a:t> person years is required to renovate the system towards the recommended 4-star level</a:t>
            </a:r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6403D236-46DC-F53D-82C2-4D20A0AF68A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92D6C-0D69-FCB1-5EE4-95B2A83103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657FF3-6619-08B7-D7FA-29D947004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technical debt is RENOVATION_EFFORT_PY person </a:t>
            </a:r>
            <a:r>
              <a:rPr lang="en-US" noProof="0"/>
              <a:t>years (RENOVATION_EFFORT_PERCENTAGE% </a:t>
            </a:r>
            <a:r>
              <a:rPr lang="en-US" noProof="0" dirty="0"/>
              <a:t>of its volume)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9634-9D42-069D-8642-EC64A877D76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C4DC25EC-B24A-5D12-8A8F-843FC11DA1F0}"/>
              </a:ext>
            </a:extLst>
          </p:cNvPr>
          <p:cNvSpPr txBox="1"/>
          <p:nvPr/>
        </p:nvSpPr>
        <p:spPr>
          <a:xfrm>
            <a:off x="2096093" y="6441308"/>
            <a:ext cx="9428642" cy="256609"/>
          </a:xfrm>
          <a:prstGeom prst="rect">
            <a:avLst/>
          </a:prstGeom>
          <a:noFill/>
        </p:spPr>
        <p:txBody>
          <a:bodyPr wrap="square" lIns="0" tIns="45720" rIns="0" bIns="4572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* At an assumed cost of </a:t>
            </a:r>
            <a:r>
              <a:rPr lang="en-US" sz="1000" b="1" i="0" noProof="0" dirty="0">
                <a:solidFill>
                  <a:schemeClr val="bg2">
                    <a:lumMod val="50000"/>
                  </a:schemeClr>
                </a:solidFill>
                <a:effectLst/>
                <a:latin typeface="Google Sans"/>
              </a:rPr>
              <a:t>€</a:t>
            </a:r>
            <a:r>
              <a:rPr lang="en-US" sz="1000" b="1" noProof="0" dirty="0">
                <a:solidFill>
                  <a:schemeClr val="bg2">
                    <a:lumMod val="50000"/>
                  </a:schemeClr>
                </a:solidFill>
              </a:rPr>
              <a:t>150K/FTE per year</a:t>
            </a: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; Costs address software development effort, no additional project (management) costs.</a:t>
            </a:r>
          </a:p>
        </p:txBody>
      </p:sp>
      <p:cxnSp>
        <p:nvCxnSpPr>
          <p:cNvPr id="28" name="Straight Connector 6">
            <a:extLst>
              <a:ext uri="{FF2B5EF4-FFF2-40B4-BE49-F238E27FC236}">
                <a16:creationId xmlns:a16="http://schemas.microsoft.com/office/drawing/2014/main" id="{BC9E30B0-576B-88A2-00C1-921F32E0F2D8}"/>
              </a:ext>
            </a:extLst>
          </p:cNvPr>
          <p:cNvCxnSpPr>
            <a:cxnSpLocks/>
          </p:cNvCxnSpPr>
          <p:nvPr/>
        </p:nvCxnSpPr>
        <p:spPr>
          <a:xfrm>
            <a:off x="8460712" y="1525524"/>
            <a:ext cx="0" cy="4505033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14">
            <a:extLst>
              <a:ext uri="{FF2B5EF4-FFF2-40B4-BE49-F238E27FC236}">
                <a16:creationId xmlns:a16="http://schemas.microsoft.com/office/drawing/2014/main" id="{D9EF6390-5FE2-830E-BA6B-5297C426F1C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2" y="1420924"/>
            <a:ext cx="1379052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>
                <a:latin typeface="☞NOIR PRO MEDIUM" pitchFamily="2" charset="0"/>
              </a:rPr>
              <a:t>Terminology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5EC81CC7-8162-6B1C-495A-A6286EDF4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80873"/>
              </p:ext>
            </p:extLst>
          </p:nvPr>
        </p:nvGraphicFramePr>
        <p:xfrm>
          <a:off x="154800" y="3881008"/>
          <a:ext cx="8104657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06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4339150"/>
                    </a:ext>
                  </a:extLst>
                </a:gridCol>
                <a:gridCol w="1197428">
                  <a:extLst>
                    <a:ext uri="{9D8B030D-6E8A-4147-A177-3AD203B41FA5}">
                      <a16:colId xmlns:a16="http://schemas.microsoft.com/office/drawing/2014/main" val="2067085742"/>
                    </a:ext>
                  </a:extLst>
                </a:gridCol>
                <a:gridCol w="1230086">
                  <a:extLst>
                    <a:ext uri="{9D8B030D-6E8A-4147-A177-3AD203B41FA5}">
                      <a16:colId xmlns:a16="http://schemas.microsoft.com/office/drawing/2014/main" val="3304719765"/>
                    </a:ext>
                  </a:extLst>
                </a:gridCol>
                <a:gridCol w="1184218">
                  <a:extLst>
                    <a:ext uri="{9D8B030D-6E8A-4147-A177-3AD203B41FA5}">
                      <a16:colId xmlns:a16="http://schemas.microsoft.com/office/drawing/2014/main" val="377289107"/>
                    </a:ext>
                  </a:extLst>
                </a:gridCol>
                <a:gridCol w="1251382">
                  <a:extLst>
                    <a:ext uri="{9D8B030D-6E8A-4147-A177-3AD203B41FA5}">
                      <a16:colId xmlns:a16="http://schemas.microsoft.com/office/drawing/2014/main" val="1699343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</a:rPr>
                        <a:t>System</a:t>
                      </a:r>
                      <a:endParaRPr lang="en-US" sz="1400" b="0" i="0" noProof="0" dirty="0">
                        <a:solidFill>
                          <a:schemeClr val="tx1"/>
                        </a:solidFill>
                        <a:latin typeface="Noir Pro Medium" pitchFamily="2" charset="0"/>
                        <a:cs typeface="TheSans B4 SemiLight"/>
                      </a:endParaRPr>
                    </a:p>
                  </a:txBody>
                  <a:tcPr marL="216000" marR="108000"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Code </a:t>
                      </a:r>
                      <a:b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</a:b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volume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Technical debt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Projected maintenance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Available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Innovation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0" noProof="0" dirty="0" err="1">
                          <a:solidFill>
                            <a:schemeClr val="tx1"/>
                          </a:solidFill>
                        </a:rPr>
                        <a:t>SYSTEM_NAME</a:t>
                      </a:r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216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 err="1">
                          <a:solidFill>
                            <a:schemeClr val="tx1"/>
                          </a:solidFill>
                        </a:rPr>
                        <a:t>SYSTEM_PY</a:t>
                      </a:r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 PY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RENOVATION_EFFORT_PY PY</a:t>
                      </a:r>
                    </a:p>
                  </a:txBody>
                  <a:tcPr marT="72000" marB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MAINTENANCE_FTE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@@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@@ FTE (@@%)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8F1D6A9-6AA2-B77F-75EA-F5693038D87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2" name="Rectangle 51">
            <a:extLst>
              <a:ext uri="{FF2B5EF4-FFF2-40B4-BE49-F238E27FC236}">
                <a16:creationId xmlns:a16="http://schemas.microsoft.com/office/drawing/2014/main" id="{6B7B3571-B154-08F5-EAB8-EDBD315AC9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1" y="1762133"/>
            <a:ext cx="3453503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80975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2"/>
                </a:solidFill>
              </a:rPr>
              <a:t>Code volume </a:t>
            </a:r>
            <a:r>
              <a:rPr lang="en-US" sz="1200" noProof="0" dirty="0">
                <a:solidFill>
                  <a:schemeClr val="tx1"/>
                </a:solidFill>
              </a:rPr>
              <a:t>is the estimated amount of development effort to produce the current amount of lines of code.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5"/>
                </a:solidFill>
              </a:rPr>
              <a:t>Technical debt</a:t>
            </a:r>
            <a:r>
              <a:rPr lang="en-US" sz="1200" noProof="0" dirty="0">
                <a:solidFill>
                  <a:schemeClr val="accent5"/>
                </a:solidFill>
              </a:rPr>
              <a:t> </a:t>
            </a:r>
            <a:r>
              <a:rPr lang="en-US" sz="1200" noProof="0" dirty="0">
                <a:solidFill>
                  <a:schemeClr val="tx1"/>
                </a:solidFill>
              </a:rPr>
              <a:t>is the estimated amount of development effort to improve the Maintainability of the system to a given target rating (typically 3.5). The recommended target level can be adjusted, depending on the context of the system.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chemeClr val="tx1"/>
                </a:solidFill>
              </a:rPr>
              <a:t>The yearly </a:t>
            </a:r>
            <a:r>
              <a:rPr lang="en-US" sz="1200" b="1" noProof="0" dirty="0">
                <a:solidFill>
                  <a:schemeClr val="accent4">
                    <a:lumMod val="75000"/>
                  </a:schemeClr>
                </a:solidFill>
              </a:rPr>
              <a:t>Projected maintenance </a:t>
            </a:r>
            <a:r>
              <a:rPr lang="en-US" sz="1200" noProof="0" dirty="0">
                <a:solidFill>
                  <a:schemeClr val="tx1"/>
                </a:solidFill>
              </a:rPr>
              <a:t>is calculated using the code volume and quality. It assumes an annual 15% required change rate in the code base (where 5% is considered the minimum in an EOL lifecycle phase). </a:t>
            </a:r>
            <a:r>
              <a:rPr lang="en-US" sz="1200" b="1" noProof="0" dirty="0">
                <a:solidFill>
                  <a:schemeClr val="tx1"/>
                </a:solidFill>
              </a:rPr>
              <a:t>Spending less effort is likely to deteriorate the maintainability.</a:t>
            </a:r>
            <a:endParaRPr lang="en-US" sz="1200" b="1" noProof="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3"/>
                </a:solidFill>
              </a:rPr>
              <a:t>Available capacity </a:t>
            </a:r>
            <a:r>
              <a:rPr lang="en-US" sz="1200" noProof="0" dirty="0">
                <a:solidFill>
                  <a:schemeClr val="tx1"/>
                </a:solidFill>
              </a:rPr>
              <a:t>is checked based on the number of developers working on the codebase in the past 12 months.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rgbClr val="57C968"/>
                </a:solidFill>
              </a:rPr>
              <a:t>Innovation capacity </a:t>
            </a:r>
            <a:r>
              <a:rPr lang="en-US" sz="1200" noProof="0" dirty="0">
                <a:solidFill>
                  <a:schemeClr val="tx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3" name="Straight Connector 16">
            <a:extLst>
              <a:ext uri="{FF2B5EF4-FFF2-40B4-BE49-F238E27FC236}">
                <a16:creationId xmlns:a16="http://schemas.microsoft.com/office/drawing/2014/main" id="{513C36C2-BD39-7400-5EF7-2B2BE3F5165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1873108"/>
            <a:ext cx="0" cy="414914"/>
          </a:xfrm>
          <a:prstGeom prst="line">
            <a:avLst/>
          </a:prstGeom>
          <a:ln w="63500" cap="rnd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7">
            <a:extLst>
              <a:ext uri="{FF2B5EF4-FFF2-40B4-BE49-F238E27FC236}">
                <a16:creationId xmlns:a16="http://schemas.microsoft.com/office/drawing/2014/main" id="{33E8D316-CE81-857A-9A37-7374096B09B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2564969"/>
            <a:ext cx="0" cy="996937"/>
          </a:xfrm>
          <a:prstGeom prst="line">
            <a:avLst/>
          </a:prstGeom>
          <a:ln w="635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8">
            <a:extLst>
              <a:ext uri="{FF2B5EF4-FFF2-40B4-BE49-F238E27FC236}">
                <a16:creationId xmlns:a16="http://schemas.microsoft.com/office/drawing/2014/main" id="{031E0116-E325-3696-9898-7AEA82AA33E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3814079"/>
            <a:ext cx="0" cy="972937"/>
          </a:xfrm>
          <a:prstGeom prst="line">
            <a:avLst/>
          </a:prstGeom>
          <a:ln w="63500" cap="rnd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2890E64-F917-1103-3B56-C727E285854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082702"/>
            <a:ext cx="0" cy="414914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578821-521C-DF0B-77D9-5727D80D243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788878"/>
            <a:ext cx="0" cy="414914"/>
          </a:xfrm>
          <a:prstGeom prst="line">
            <a:avLst/>
          </a:prstGeom>
          <a:ln w="63500" cap="rnd">
            <a:solidFill>
              <a:srgbClr val="57C96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569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3955803" y="2780488"/>
            <a:ext cx="1487734" cy="339865"/>
            <a:chOff x="3955803" y="2830273"/>
            <a:chExt cx="1487734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4065156" y="2918313"/>
              <a:ext cx="1287688" cy="157941"/>
              <a:chOff x="4307640" y="2702807"/>
              <a:chExt cx="1287688" cy="157941"/>
            </a:xfrm>
          </p:grpSpPr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3955803" y="2830273"/>
              <a:ext cx="148773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6096000" y="3717908"/>
            <a:ext cx="5168112" cy="339865"/>
            <a:chOff x="6096000" y="3744528"/>
            <a:chExt cx="5168112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6368262" y="3835491"/>
              <a:ext cx="4797653" cy="157941"/>
              <a:chOff x="6610746" y="3796856"/>
              <a:chExt cx="4797653" cy="157941"/>
            </a:xfrm>
          </p:grpSpPr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6096000" y="3744528"/>
              <a:ext cx="516811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088215"/>
              </p:ext>
            </p:extLst>
          </p:nvPr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b="0" i="0" noProof="0" dirty="0">
                        <a:solidFill>
                          <a:schemeClr val="bg1"/>
                        </a:solidFill>
                        <a:latin typeface="☞NOIR PRO MEDIUM" pitchFamily="2" charset="0"/>
                      </a:endParaRP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GALAXY_CHART&#13;&#10;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6225825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MAINT_RELATIVE_COST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C752FB1-03C1-7292-253C-C8435A815C2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SYSTEM_NAME scores MAINT_RELATIVE market average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816226"/>
              </p:ext>
            </p:extLst>
          </p:nvPr>
        </p:nvGraphicFramePr>
        <p:xfrm>
          <a:off x="8571496" y="3035953"/>
          <a:ext cx="3315521" cy="16917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70E21-F741-00F2-0514-4F39688D23D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ECHNOLOGY_CHART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151CEE-B969-2DB6-0530-EA6B026371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TEST_CODE_RATIO_CHART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SIG’s Architecture Model maps the sub-characteristics to 9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2079450" y="2800306"/>
            <a:ext cx="5010198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258" y="2210220"/>
          <a:ext cx="10295802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978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distribution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218728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654945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797392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797394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512500" y="33447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37415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95131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9090244" y="3349541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793863" y="381479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508969" y="381589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37062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94778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215199" y="427589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651416" y="42819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508969" y="42769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370623" y="427347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9086713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1023661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4" name="Ovaal 11">
            <a:extLst>
              <a:ext uri="{FF2B5EF4-FFF2-40B4-BE49-F238E27FC236}">
                <a16:creationId xmlns:a16="http://schemas.microsoft.com/office/drawing/2014/main" id="{1A485405-125F-7FAC-A51E-ADEA50ADBF11}"/>
              </a:ext>
            </a:extLst>
          </p:cNvPr>
          <p:cNvSpPr/>
          <p:nvPr/>
        </p:nvSpPr>
        <p:spPr>
          <a:xfrm>
            <a:off x="11375001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236613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375002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3234047" y="3252689"/>
            <a:ext cx="611251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3234047" y="3727474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2079450" y="4184931"/>
            <a:ext cx="959766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10137228" y="4644690"/>
            <a:ext cx="153989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5375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 dirty="0"/>
              <a:t>Key findings – Architecture quality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D74ABEF-BBA7-7EB8-0A5E-BB2FB1DE2F0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scores ARCH_AT_BELOW market average (ARCH_RATING </a:t>
            </a: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 dirty="0"/>
              <a:t>) for Architecture Quality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249662"/>
              </p:ext>
            </p:extLst>
          </p:nvPr>
        </p:nvGraphicFramePr>
        <p:xfrm>
          <a:off x="8395675" y="3035953"/>
          <a:ext cx="3480722" cy="28426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46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28201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awareness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STARS_KNOWLEDGE_AWARENESS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ARCH_RATING_KNOWLEDGE_AWARENESS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Team 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7605174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6" name="Hexagon 15">
            <a:extLst>
              <a:ext uri="{FF2B5EF4-FFF2-40B4-BE49-F238E27FC236}">
                <a16:creationId xmlns:a16="http://schemas.microsoft.com/office/drawing/2014/main" id="{ED0ADA17-128F-6A3D-D2F9-7B6FDC4001CE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noProof="0" dirty="0">
                <a:solidFill>
                  <a:schemeClr val="bg1"/>
                </a:solidFill>
              </a:rPr>
              <a:t>Knowledge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5E3E2333-CF2E-CB39-4395-42A9EB95BD8E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noProof="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7A06B6EF-AB98-D5CE-88A2-E77A3B25B548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noProof="0" dirty="0">
                <a:solidFill>
                  <a:srgbClr val="1E354B"/>
                </a:solidFill>
              </a:rPr>
              <a:t>COLOR_ARCH_RATING_STRUCTURE ★</a:t>
            </a:r>
            <a:endParaRPr lang="en-US" sz="1050" noProof="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FDF57ABA-B6E0-13E7-A935-32521C040FF3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Evolution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0" name="Hexagon 29">
            <a:extLst>
              <a:ext uri="{FF2B5EF4-FFF2-40B4-BE49-F238E27FC236}">
                <a16:creationId xmlns:a16="http://schemas.microsoft.com/office/drawing/2014/main" id="{B1275457-DED3-801E-77EE-D83D1FE14B37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Data Access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1" name="Hexagon 30">
            <a:extLst>
              <a:ext uri="{FF2B5EF4-FFF2-40B4-BE49-F238E27FC236}">
                <a16:creationId xmlns:a16="http://schemas.microsoft.com/office/drawing/2014/main" id="{37FCEF89-149E-5604-15A3-6B3D61BA84D3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Technology Stack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0F924A-2375-295D-4FA1-E0595583258E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/>
              <a:t>ARCH_WORST_METRIC_REMARK</a:t>
            </a:r>
            <a:endParaRPr lang="en-US" sz="1600" noProof="0" dirty="0"/>
          </a:p>
          <a:p>
            <a:br>
              <a:rPr lang="en-US" sz="1600" noProof="0" dirty="0"/>
            </a:br>
            <a:r>
              <a:rPr lang="en-US" sz="1600" noProof="0" dirty="0" err="1"/>
              <a:t>ARCH_BEST_METRIC_REMARK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31452C-B3D9-1038-BB21-62811C47258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742044"/>
              </p:ext>
            </p:extLst>
          </p:nvPr>
        </p:nvGraphicFramePr>
        <p:xfrm>
          <a:off x="8571496" y="3035953"/>
          <a:ext cx="3315521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sz="1400" noProof="0" dirty="0"/>
              <a:t>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graphicFrame>
        <p:nvGraphicFramePr>
          <p:cNvPr id="2" name="OSH_VULN_LEGAL_GRAPH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/>
        </p:nvGraphicFramePr>
        <p:xfrm>
          <a:off x="2993512" y="2846744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OTHER_RISKS_GRAPH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5695836"/>
              </p:ext>
            </p:extLst>
          </p:nvPr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11315</TotalTime>
  <Words>2002</Words>
  <Application>Microsoft Macintosh PowerPoint</Application>
  <PresentationFormat>Widescreen</PresentationFormat>
  <Paragraphs>431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37" baseType="lpstr">
      <vt:lpstr>.AppleSystemUIFont</vt:lpstr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Google Sans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Wingdings</vt:lpstr>
      <vt:lpstr>Light theme (default)</vt:lpstr>
      <vt:lpstr>Dark theme</vt:lpstr>
      <vt:lpstr>PowerPoint Presentation</vt:lpstr>
      <vt:lpstr>Outline of topics</vt:lpstr>
      <vt:lpstr>Metadata overview for system SYSTEM_NAME</vt:lpstr>
      <vt:lpstr>System "SYSTEM_NAME" technical quality: management summary</vt:lpstr>
      <vt:lpstr>Outline of topics</vt:lpstr>
      <vt:lpstr>Explanation: The Cost Estimation model combines Sigrid analysis results with SIG benchmarks</vt:lpstr>
      <vt:lpstr>SYSTEM_NAME technical debt is RENOVATION_EFFORT_PY person years (RENOVATION_EFFORT_PERCENTAGE% of its volume)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MAINT_RELATIVE market average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9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210</cp:revision>
  <cp:lastPrinted>2020-04-20T09:37:43Z</cp:lastPrinted>
  <dcterms:created xsi:type="dcterms:W3CDTF">2025-10-22T11:22:13Z</dcterms:created>
  <dcterms:modified xsi:type="dcterms:W3CDTF">2026-05-19T10:52:35Z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