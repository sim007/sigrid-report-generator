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1973" r:id="rId5"/>
    <p:sldId id="10749" r:id="rId6"/>
    <p:sldId id="10750" r:id="rId7"/>
    <p:sldId id="10751" r:id="rId8"/>
    <p:sldId id="10752" r:id="rId9"/>
    <p:sldId id="113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70"/>
    <p:restoredTop sz="96763"/>
  </p:normalViewPr>
  <p:slideViewPr>
    <p:cSldViewPr snapToGrid="0" snapToObjects="1" showGuides="1">
      <p:cViewPr varScale="1">
        <p:scale>
          <a:sx n="120" d="100"/>
          <a:sy n="120" d="100"/>
        </p:scale>
        <p:origin x="90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0-7C96-CF4F-94AD-E08A5CD6D25E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</c:v>
                </c:pt>
                <c:pt idx="8">
                  <c:v>Team</c:v>
                </c:pt>
                <c:pt idx="9">
                  <c:v>Division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1-7C96-CF4F-94AD-E08A5CD6D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Incomplete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</c:v>
                </c:pt>
                <c:pt idx="8">
                  <c:v>Team</c:v>
                </c:pt>
                <c:pt idx="9">
                  <c:v>Division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96-CF4F-94AD-E08A5CD6D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6 months</c:v>
                </c:pt>
                <c:pt idx="5">
                  <c:v>&gt;6 months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6-CA4F-BA2E-5477A899A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Deactivated</c:v>
                </c:pt>
                <c:pt idx="2">
                  <c:v>EOL</c:v>
                </c:pt>
                <c:pt idx="3">
                  <c:v>EOL &amp; Deactivated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3-114A-AFCA-6814C018F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8520383"/>
        <c:axId val="2098523071"/>
      </c:barChart>
      <c:catAx>
        <c:axId val="209852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3071"/>
        <c:crosses val="autoZero"/>
        <c:auto val="1"/>
        <c:lblAlgn val="ctr"/>
        <c:lblOffset val="100"/>
        <c:noMultiLvlLbl val="0"/>
      </c:catAx>
      <c:valAx>
        <c:axId val="2098523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0-B745-99C2-4242B48632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Maintainer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0-B745-99C2-4242B48632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D0-B745-99C2-4242B4863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noFill/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All Capabilities</c:v>
                </c:pt>
                <c:pt idx="2">
                  <c:v>Architecture Quality</c:v>
                </c:pt>
                <c:pt idx="3">
                  <c:v>Maintainability</c:v>
                </c:pt>
                <c:pt idx="4">
                  <c:v>Open Source Health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6-474B-919E-22DA88E63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8D11-594F-21E6-1BF2-59539F83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52ACA-ABBB-AAE5-2D7F-478E2C17C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0B491-32D5-B650-4DF6-674FDC593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DFA3-E7F7-F62B-807A-F52D169B0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21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D1AF-EC2D-82B6-2207-BB2F3A1C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1AC35-64F3-F293-BD6C-C5D9933CB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B27AE-183B-27E6-7BAD-42897931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926F-8775-E16C-7510-8101F9B9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1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EF95-B2A0-2E63-C0D6-DD83B520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8E766-C00A-4CD1-FF30-7F1E7456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C787E-418C-0877-1DAD-1215C8A01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4474-9993-B153-FB2B-645AC69DB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1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Sigrid Hygiene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916084" cy="228209"/>
          </a:xfrm>
        </p:spPr>
        <p:txBody>
          <a:bodyPr/>
          <a:lstStyle/>
          <a:p>
            <a:r>
              <a:rPr lang="en-GB" dirty="0"/>
              <a:t>Metadata completeness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Metadata completeness per field</a:t>
            </a:r>
          </a:p>
        </p:txBody>
      </p:sp>
      <p:graphicFrame>
        <p:nvGraphicFramePr>
          <p:cNvPr id="12" name="METADATA_COMPLETENESS_CHART">
            <a:extLst>
              <a:ext uri="{FF2B5EF4-FFF2-40B4-BE49-F238E27FC236}">
                <a16:creationId xmlns:a16="http://schemas.microsoft.com/office/drawing/2014/main" id="{8A441EFF-07E9-9E27-9640-D73D806C4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532152"/>
              </p:ext>
            </p:extLst>
          </p:nvPr>
        </p:nvGraphicFramePr>
        <p:xfrm>
          <a:off x="478224" y="2397760"/>
          <a:ext cx="11267443" cy="3670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7EBEF1-AE34-0146-7D18-236358E52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in Sigrid become more accurate and useful the more systems have the metadata filled in.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2F09B-1C22-172A-FFF0-0D958699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46A525-4ADC-96E1-093F-2CD3A566AC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Snapshot freshness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218BA11-3D9E-7D9D-8D97-CF8F378F7E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B96D18-7D9C-40F7-50CC-B77A7E36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Last snapshot time in Sigrid for the systems</a:t>
            </a:r>
          </a:p>
        </p:txBody>
      </p:sp>
      <p:graphicFrame>
        <p:nvGraphicFramePr>
          <p:cNvPr id="3" name="SNAPSHOT_FRESHNESS_CHART">
            <a:extLst>
              <a:ext uri="{FF2B5EF4-FFF2-40B4-BE49-F238E27FC236}">
                <a16:creationId xmlns:a16="http://schemas.microsoft.com/office/drawing/2014/main" id="{F90CD9BA-AD7D-48A4-38A5-8004F1559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251351"/>
              </p:ext>
            </p:extLst>
          </p:nvPr>
        </p:nvGraphicFramePr>
        <p:xfrm>
          <a:off x="2032000" y="2550160"/>
          <a:ext cx="8128000" cy="3631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7F908-3840-2F82-24E2-1A1AC35C11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recent snapshots in Sigrid helps you obtain both an accurate picture and timely results for your software portfolio.</a:t>
            </a:r>
          </a:p>
        </p:txBody>
      </p:sp>
    </p:spTree>
    <p:extLst>
      <p:ext uri="{BB962C8B-B14F-4D97-AF65-F5344CB8AC3E}">
        <p14:creationId xmlns:p14="http://schemas.microsoft.com/office/powerpoint/2010/main" val="318178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0900-3E03-617C-57EA-882B43C6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0DCB79-09D5-8B9B-10E3-06F552894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180853" cy="228209"/>
          </a:xfrm>
        </p:spPr>
        <p:txBody>
          <a:bodyPr/>
          <a:lstStyle/>
          <a:p>
            <a:r>
              <a:rPr lang="en-GB" dirty="0"/>
              <a:t>EOL systems hygiene &amp; Hidden systems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7F3BCB6-9477-5128-9A38-9AC9BF9472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596FD-9EA9-E7CC-F85C-901CB1B3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Status of End-of-life (EOL) and deactivated systems in Sigrid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D33C-4184-6E9D-1A92-4C22E097AE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Removing EOL systems from Sigrid helps maintain a clean portfolio.</a:t>
            </a:r>
          </a:p>
        </p:txBody>
      </p:sp>
      <p:graphicFrame>
        <p:nvGraphicFramePr>
          <p:cNvPr id="5" name="EOL_DEACTIVATED_CHART">
            <a:extLst>
              <a:ext uri="{FF2B5EF4-FFF2-40B4-BE49-F238E27FC236}">
                <a16:creationId xmlns:a16="http://schemas.microsoft.com/office/drawing/2014/main" id="{E7702704-1E25-0AA6-4ECA-55B4D16AE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006025"/>
              </p:ext>
            </p:extLst>
          </p:nvPr>
        </p:nvGraphicFramePr>
        <p:xfrm>
          <a:off x="2119152" y="2637351"/>
          <a:ext cx="7953695" cy="3326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125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2A34-72F6-3A10-832F-B1D0E59F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8C5441-27BD-EA09-AE2E-B520E826BF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Last Sigrid access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2D8E595-0959-3752-A0DF-CC24C80E24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06F80A-2185-0642-35D4-322A163A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access time in Sigrid per account role</a:t>
            </a:r>
            <a:endParaRPr lang="en-GB" dirty="0"/>
          </a:p>
        </p:txBody>
      </p:sp>
      <p:graphicFrame>
        <p:nvGraphicFramePr>
          <p:cNvPr id="3" name="USERS_LAST_LOGIN_CHART">
            <a:extLst>
              <a:ext uri="{FF2B5EF4-FFF2-40B4-BE49-F238E27FC236}">
                <a16:creationId xmlns:a16="http://schemas.microsoft.com/office/drawing/2014/main" id="{22E7EC0E-ACE6-3DDF-FB84-9B4BAA3FD1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95323"/>
              </p:ext>
            </p:extLst>
          </p:nvPr>
        </p:nvGraphicFramePr>
        <p:xfrm>
          <a:off x="1838715" y="2588492"/>
          <a:ext cx="8512169" cy="3277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7D34BB-38AF-B1D8-E918-0552C11809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 access times are an indicator that the users actively engage with Sigrid and make use of its insights.</a:t>
            </a:r>
          </a:p>
        </p:txBody>
      </p:sp>
    </p:spTree>
    <p:extLst>
      <p:ext uri="{BB962C8B-B14F-4D97-AF65-F5344CB8AC3E}">
        <p14:creationId xmlns:p14="http://schemas.microsoft.com/office/powerpoint/2010/main" val="421662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562B4-433C-6AD3-BE97-6669903E22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747448" cy="228209"/>
          </a:xfrm>
        </p:spPr>
        <p:txBody>
          <a:bodyPr/>
          <a:lstStyle/>
          <a:p>
            <a:r>
              <a:rPr lang="en-US" dirty="0"/>
              <a:t>Objectives coverage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B275E-9687-84C1-BAB5-0DAE4218D0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71E740-C96B-E177-A48D-9DDFA9B4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systems covered by objectives</a:t>
            </a:r>
          </a:p>
        </p:txBody>
      </p:sp>
      <p:graphicFrame>
        <p:nvGraphicFramePr>
          <p:cNvPr id="8" name="OBJECTIVES_COVERAGE_CHART">
            <a:extLst>
              <a:ext uri="{FF2B5EF4-FFF2-40B4-BE49-F238E27FC236}">
                <a16:creationId xmlns:a16="http://schemas.microsoft.com/office/drawing/2014/main" id="{0EEA915C-1522-0D70-85F6-DB14A1F8E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741821"/>
              </p:ext>
            </p:extLst>
          </p:nvPr>
        </p:nvGraphicFramePr>
        <p:xfrm>
          <a:off x="1235282" y="2540951"/>
          <a:ext cx="9719035" cy="3723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9FF7D-CC98-58F5-DA1F-6B85E8AE0D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objectives set in Sigrid helps your teams to track the quality of the portfolio and gradually improve it over time.</a:t>
            </a:r>
          </a:p>
        </p:txBody>
      </p:sp>
    </p:spTree>
    <p:extLst>
      <p:ext uri="{BB962C8B-B14F-4D97-AF65-F5344CB8AC3E}">
        <p14:creationId xmlns:p14="http://schemas.microsoft.com/office/powerpoint/2010/main" val="9393589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11143</TotalTime>
  <Words>158</Words>
  <Application>Microsoft Macintosh PowerPoint</Application>
  <PresentationFormat>Widescreen</PresentationFormat>
  <Paragraphs>27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Azeret Mono</vt:lpstr>
      <vt:lpstr>Azeret Mono Medium</vt:lpstr>
      <vt:lpstr>Calibri</vt:lpstr>
      <vt:lpstr>Helvetica Neue Bold</vt:lpstr>
      <vt:lpstr>Noir Pro</vt:lpstr>
      <vt:lpstr>Noir Pro Medium</vt:lpstr>
      <vt:lpstr>Noir Pro Semi Bold</vt:lpstr>
      <vt:lpstr>Light theme (default)</vt:lpstr>
      <vt:lpstr>PowerPoint Presentation</vt:lpstr>
      <vt:lpstr>Metadata completeness per field</vt:lpstr>
      <vt:lpstr>Last snapshot time in Sigrid for the systems</vt:lpstr>
      <vt:lpstr>Status of End-of-life (EOL) and deactivated systems in Sigrid</vt:lpstr>
      <vt:lpstr>Last access time in Sigrid per account role</vt:lpstr>
      <vt:lpstr>Number of systems covered by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Andrei Tociu</cp:lastModifiedBy>
  <cp:revision>173</cp:revision>
  <cp:lastPrinted>2020-04-20T09:37:43Z</cp:lastPrinted>
  <dcterms:created xsi:type="dcterms:W3CDTF">2025-10-22T11:22:13Z</dcterms:created>
  <dcterms:modified xsi:type="dcterms:W3CDTF">2026-04-14T06:21:38Z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