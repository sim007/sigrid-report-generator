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1973" r:id="rId5"/>
    <p:sldId id="11390" r:id="rId6"/>
    <p:sldId id="10749" r:id="rId7"/>
    <p:sldId id="10751" r:id="rId8"/>
    <p:sldId id="10753" r:id="rId9"/>
    <p:sldId id="10750" r:id="rId10"/>
    <p:sldId id="10754" r:id="rId11"/>
    <p:sldId id="10755" r:id="rId12"/>
    <p:sldId id="10756" r:id="rId13"/>
    <p:sldId id="11363" r:id="rId14"/>
    <p:sldId id="11364" r:id="rId15"/>
    <p:sldId id="11365" r:id="rId16"/>
    <p:sldId id="11366" r:id="rId17"/>
    <p:sldId id="11367" r:id="rId18"/>
    <p:sldId id="11368" r:id="rId19"/>
    <p:sldId id="11369" r:id="rId20"/>
    <p:sldId id="11370" r:id="rId21"/>
    <p:sldId id="11389" r:id="rId22"/>
    <p:sldId id="11371" r:id="rId23"/>
    <p:sldId id="10757" r:id="rId24"/>
    <p:sldId id="11409" r:id="rId25"/>
    <p:sldId id="11410" r:id="rId26"/>
    <p:sldId id="1824" r:id="rId27"/>
    <p:sldId id="11403" r:id="rId28"/>
    <p:sldId id="11374" r:id="rId29"/>
    <p:sldId id="11405" r:id="rId30"/>
    <p:sldId id="11406" r:id="rId31"/>
    <p:sldId id="11402" r:id="rId32"/>
    <p:sldId id="11376" r:id="rId33"/>
    <p:sldId id="11284" r:id="rId34"/>
    <p:sldId id="1137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4"/>
    <p:restoredTop sz="96763"/>
  </p:normalViewPr>
  <p:slideViewPr>
    <p:cSldViewPr snapToGrid="0" snapToObjects="1" showGuides="1">
      <p:cViewPr varScale="1">
        <p:scale>
          <a:sx n="128" d="100"/>
          <a:sy n="128" d="100"/>
        </p:scale>
        <p:origin x="93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5FE6A-D37A-834F-B8C5-870900F9D163}" type="VALUE">
                      <a:rPr lang="en-US" sz="1400" b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147-E74A-AA7B-5531F0E4EE0C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A15AB0D-C73F-2F4E-B068-1138B91CEB95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34D244C-CE32-A046-8143-A59D5CA86E7E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50.0</c:v>
                </c:pt>
                <c:pt idx="8">
                  <c:v>50.0</c:v>
                </c:pt>
                <c:pt idx="9">
                  <c:v>65.0</c:v>
                </c:pt>
                <c:pt idx="10">
                  <c:v>50.0</c:v>
                </c:pt>
                <c:pt idx="11">
                  <c:v>53.0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33.0</c:v>
                </c:pt>
                <c:pt idx="2">
                  <c:v>73.0</c:v>
                </c:pt>
                <c:pt idx="3">
                  <c:v>46.0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100.0</c:v>
                </c:pt>
                <c:pt idx="1">
                  <c:v>66.66666666666666</c:v>
                </c:pt>
                <c:pt idx="2">
                  <c:v>27.272727272727266</c:v>
                </c:pt>
                <c:pt idx="3">
                  <c:v>53.84615384615385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46.0</c:v>
                </c:pt>
                <c:pt idx="10">
                  <c:v>46.0</c:v>
                </c:pt>
                <c:pt idx="11">
                  <c:v>46.0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73.0</c:v>
                </c:pt>
                <c:pt idx="10">
                  <c:v>73.0</c:v>
                </c:pt>
                <c:pt idx="11">
                  <c:v>73.0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33.0</c:v>
                </c:pt>
                <c:pt idx="11">
                  <c:v>41.0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75D5-D342-BCFC-56747FBB812F}"/>
              </c:ext>
            </c:extLst>
          </c:dPt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48.648648648648646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75D5-D342-BCFC-56747FBB8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D5-D342-BCFC-56747FBB81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D5-D342-BCFC-56747FBB81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D5-D342-BCFC-56747FBB812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D5-D342-BCFC-56747FBB8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189D-224A-BCD3-20CC2B33F5C5}"/>
              </c:ext>
            </c:extLst>
          </c:dPt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48.648648648648646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189D-224A-BCD3-20CC2B33F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9D-224A-BCD3-20CC2B33F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9D-224A-BCD3-20CC2B33F5C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9D-224A-BCD3-20CC2B33F5C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9D-224A-BCD3-20CC2B33F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E98D-4640-8B14-A67FDFDE3FF3}"/>
              </c:ext>
            </c:extLst>
          </c:dPt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66.66666666666667</c:v>
                </c:pt>
                <c:pt idx="1">
                  <c:v>46.15384615384615</c:v>
                </c:pt>
                <c:pt idx="2">
                  <c:v>33.333333333333336</c:v>
                </c:pt>
                <c:pt idx="3">
                  <c:v>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E98D-4640-8B14-A67FDFDE3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8D-4640-8B14-A67FDFDE3F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46.15384615384615</c:v>
                </c:pt>
                <c:pt idx="2">
                  <c:v>66.66666666666667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8D-4640-8B14-A67FDFDE3F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8.333333333333334</c:v>
                </c:pt>
                <c:pt idx="1">
                  <c:v>7.6923076923076925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8D-4640-8B14-A67FDFDE3F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8.333333333333334</c:v>
                </c:pt>
                <c:pt idx="1">
                  <c:v>0.0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D-4640-8B14-A67FDFDE3F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5343-2840-AF35-77DE56009DF9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2.7027027027027026</c:v>
                </c:pt>
                <c:pt idx="8">
                  <c:v>2.7027027027027026</c:v>
                </c:pt>
                <c:pt idx="9">
                  <c:v>48.648648648648646</c:v>
                </c:pt>
                <c:pt idx="10">
                  <c:v>48.648648648648646</c:v>
                </c:pt>
                <c:pt idx="11">
                  <c:v>51.351351351351354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5343-2840-AF35-77DE56009D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43-2840-AF35-77DE56009D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2.7027027027027026</c:v>
                </c:pt>
                <c:pt idx="8">
                  <c:v>2.7027027027027026</c:v>
                </c:pt>
                <c:pt idx="9">
                  <c:v>24.324324324324323</c:v>
                </c:pt>
                <c:pt idx="10">
                  <c:v>45.945945945945944</c:v>
                </c:pt>
                <c:pt idx="11">
                  <c:v>40.54054054054054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43-2840-AF35-77DE56009D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2.7027027027027026</c:v>
                </c:pt>
                <c:pt idx="10">
                  <c:v>2.7027027027027026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43-2840-AF35-77DE56009D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94.5945945945946</c:v>
                </c:pt>
                <c:pt idx="8">
                  <c:v>94.5945945945946</c:v>
                </c:pt>
                <c:pt idx="9">
                  <c:v>24.324324324324323</c:v>
                </c:pt>
                <c:pt idx="10">
                  <c:v>2.7027027027027026</c:v>
                </c:pt>
                <c:pt idx="11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43-2840-AF35-77DE56009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5A7D-2A41-8E40-3CF6BA9EF6C8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5A7D-2A41-8E40-3CF6BA9EF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7D-2A41-8E40-3CF6BA9EF6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7D-2A41-8E40-3CF6BA9EF6C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7D-2A41-8E40-3CF6BA9EF6C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7D-2A41-8E40-3CF6BA9EF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2F9E-3B4D-B259-782ED914E23F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8.333333333333334</c:v>
                </c:pt>
                <c:pt idx="8">
                  <c:v>8.333333333333334</c:v>
                </c:pt>
                <c:pt idx="9">
                  <c:v>33.333333333333336</c:v>
                </c:pt>
                <c:pt idx="10">
                  <c:v>33.333333333333336</c:v>
                </c:pt>
                <c:pt idx="11">
                  <c:v>41.666666666666664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2F9E-3B4D-B259-782ED914E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9E-3B4D-B259-782ED914E2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66.66666666666667</c:v>
                </c:pt>
                <c:pt idx="11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9E-3B4D-B259-782ED914E2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F9E-3B4D-B259-782ED914E2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91.66666666666667</c:v>
                </c:pt>
                <c:pt idx="8">
                  <c:v>91.66666666666667</c:v>
                </c:pt>
                <c:pt idx="9">
                  <c:v>66.66666666666667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E-3B4D-B259-782ED914E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BA9D-A148-A366-632DBB31698B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46.15384615384615</c:v>
                </c:pt>
                <c:pt idx="10">
                  <c:v>46.15384615384615</c:v>
                </c:pt>
                <c:pt idx="11">
                  <c:v>46.15384615384615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BA9D-A148-A366-632DBB316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9D-A148-A366-632DBB3169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7.6923076923076925</c:v>
                </c:pt>
                <c:pt idx="8">
                  <c:v>7.6923076923076925</c:v>
                </c:pt>
                <c:pt idx="9">
                  <c:v>46.15384615384615</c:v>
                </c:pt>
                <c:pt idx="10">
                  <c:v>53.84615384615385</c:v>
                </c:pt>
                <c:pt idx="11">
                  <c:v>53.84615384615385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9D-A148-A366-632DBB31698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7.6923076923076925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9D-A148-A366-632DBB31698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92.3076923076923</c:v>
                </c:pt>
                <c:pt idx="8">
                  <c:v>92.3076923076923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9D-A148-A366-632DBB316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9CDF-4B43-A58B-3C03F478D7BE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66.66666666666667</c:v>
                </c:pt>
                <c:pt idx="10">
                  <c:v>66.66666666666667</c:v>
                </c:pt>
                <c:pt idx="11">
                  <c:v>66.66666666666667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9CDF-4B43-A58B-3C03F478D7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DF-4B43-A58B-3C03F478D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25.0</c:v>
                </c:pt>
                <c:pt idx="10">
                  <c:v>16.666666666666668</c:v>
                </c:pt>
                <c:pt idx="11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DF-4B43-A58B-3C03F478D7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8.333333333333334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DF-4B43-A58B-3C03F478D7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8.333333333333334</c:v>
                </c:pt>
                <c:pt idx="10">
                  <c:v>8.333333333333334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DF-4B43-A58B-3C03F478D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integrationtest-zuul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integrationtest-facebookyoga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integrationtest-jruby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t>integrationtest-webpack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integrationtest-git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t>integrationtest-bazel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t>integrationtest-electron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t>integrationtest-druid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t>integrationtest-kafka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t>integrationtest-airflow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t>integrationtest-vscode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integrationtest-elasticsearch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Sheet1!$A$2:$A$13</c:f>
              <c:numCache>
                <c:formatCode>General</c:formatCode>
                <c:ptCount val="12"/>
                <c:pt idx="0">
                  <c:v>2.1457777777777776</c:v>
                </c:pt>
                <c:pt idx="1">
                  <c:v>3.6036445657400105</c:v>
                </c:pt>
                <c:pt idx="2">
                  <c:v>36.35964730933028</c:v>
                </c:pt>
                <c:pt idx="3">
                  <c:v>10.991592990840298</c:v>
                </c:pt>
                <c:pt idx="4">
                  <c:v>36.830844725281914</c:v>
                </c:pt>
                <c:pt idx="5">
                  <c:v>6.7400960365853635</c:v>
                </c:pt>
                <c:pt idx="6">
                  <c:v>12.957363313311658</c:v>
                </c:pt>
                <c:pt idx="7">
                  <c:v>26.774372759856643</c:v>
                </c:pt>
                <c:pt idx="8">
                  <c:v>42.6041631944445</c:v>
                </c:pt>
                <c:pt idx="9">
                  <c:v>55.50518282469105</c:v>
                </c:pt>
                <c:pt idx="10">
                  <c:v>77.33298297129431</c:v>
                </c:pt>
                <c:pt idx="11">
                  <c:v>262.70099258506497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3.359850166537113</c:v>
                </c:pt>
                <c:pt idx="1">
                  <c:v>2.9112640701670003</c:v>
                </c:pt>
                <c:pt idx="2">
                  <c:v>2.4421437427141464</c:v>
                </c:pt>
                <c:pt idx="3">
                  <c:v>3.0922316739084184</c:v>
                </c:pt>
                <c:pt idx="4">
                  <c:v>2.123208503605678</c:v>
                </c:pt>
                <c:pt idx="5">
                  <c:v>3.3472615146464455</c:v>
                </c:pt>
                <c:pt idx="6">
                  <c:v>3.557961475143022</c:v>
                </c:pt>
                <c:pt idx="7">
                  <c:v>2.5713015651373246</c:v>
                </c:pt>
                <c:pt idx="8">
                  <c:v>2.644363023714699</c:v>
                </c:pt>
                <c:pt idx="9">
                  <c:v>2.2502888470290587</c:v>
                </c:pt>
                <c:pt idx="10">
                  <c:v>3.0519608059230676</c:v>
                </c:pt>
                <c:pt idx="11">
                  <c:v>2.369866173752676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</c:v>
                </c:pt>
                <c:pt idx="1">
                  <c:v>0</c:v>
                </c:pt>
                <c:pt idx="2">
                  <c:v>0</c:v>
                </c:pt>
                <c:pt idx="3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3E-B549-A770-4B561453C6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83E-B549-A770-4B561453C6BF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83E-B549-A770-4B561453C6BF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</c:v>
                </c:pt>
                <c:pt idx="1">
                  <c:v>0</c:v>
                </c:pt>
                <c:pt idx="2">
                  <c:v>0</c:v>
                </c:pt>
                <c:pt idx="3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83E-B549-A770-4B561453C6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30</c:v>
                </c:pt>
                <c:pt idx="2">
                  <c:v>93</c:v>
                </c:pt>
                <c:pt idx="3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3E-B549-A770-4B561453C6B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93</c:v>
                </c:pt>
                <c:pt idx="1">
                  <c:v>0</c:v>
                </c:pt>
                <c:pt idx="2">
                  <c:v>0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83E-B549-A770-4B561453C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94.90000000000003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08-9C42-B1E9-65C8973AB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308-9C42-B1E9-65C8973ABF79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308-9C42-B1E9-65C8973ABF79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308-9C42-B1E9-65C8973AB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18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308-9C42-B1E9-65C8973ABF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308-9C42-B1E9-65C8973AB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94.90000000000003"/>
          <c:min val="0.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2B7-BF97-0973-EDF4-48908FBE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3CEDA-8AB3-6AF0-70C6-E15C6FC8C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9262-B5A4-2FCE-7E08-7EAAD1DB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85A-62C7-3089-C70F-6405456B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7F13-6185-DA3A-E4BF-93AB0871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A878-4BCC-C37E-C60B-5C73D7AB7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1676A-8DB0-EB68-AFE3-4B5980881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DA36-1389-3F55-2F71-57DFDF61F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3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86E9-8DBC-7315-34FD-58C7242D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D624-4D2F-82F2-F904-1C760725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E577-5C9F-05A6-2A63-85479AB3C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F337-03B5-BF71-3308-EB7914FE2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3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D0F5-8BBF-7EE5-13F5-9F0CF5DC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9B9BD-FD8B-6877-05B7-E7676153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1F4E-1948-87BC-0DC9-1B2643E76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974D-1303-6585-E51A-9BB4C0933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AC41-72C5-457E-68E0-ABA79431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5686-AB67-CADF-5E29-F5A5E8D97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87485-085D-0D90-7A80-DA34DCDD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4E9A-7183-4A81-0FF4-A45C7629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7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83-C9EC-1D45-88B8-5E84B58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B5CBF-3012-045D-BF54-6FE84596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3B5E4-7175-81ED-5825-D28FF4AD0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45D3-74FD-0ADA-5B6C-DC6DBDDF1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1868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74F8-E8A1-04EC-B454-288A2CC8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F02B9-A2E5-ED61-3237-42E0AC4BB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B389-453E-3433-6FA3-9E9724AF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64E3-FBDC-C133-4E72-F1AAC733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603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40C3-8B77-A987-276E-F1D31C85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5009-84BF-8836-E818-4EE4D95DB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97E46-BEF0-F40D-55DD-BD10F774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F44B-8DFA-7FEC-E0BE-04E5455D6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927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372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4A2A75-3145-2B40-BD84-D3A76CD6FFA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svg"/><Relationship Id="rId4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svg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sv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svg"/><Relationship Id="rId4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tiff"/><Relationship Id="rId4" Type="http://schemas.openxmlformats.org/officeDocument/2006/relationships/chart" Target="../charts/chart16.xml"/><Relationship Id="rId5" Type="http://schemas.openxmlformats.org/officeDocument/2006/relationships/image" Target="../media/image11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3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3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3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svg"/><Relationship Id="rId4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Reportgeneratordemo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8E9F-84B3-1417-B1C1-8497B044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996AB135-5D98-6CB2-2236-27FA6BFF1DF8}"/>
              </a:ext>
            </a:extLst>
          </p:cNvPr>
          <p:cNvSpPr/>
          <p:nvPr/>
        </p:nvSpPr>
        <p:spPr>
          <a:xfrm>
            <a:off x="4454347" y="754749"/>
            <a:ext cx="7567201" cy="14065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C2F1336-0E3A-77B1-7FED-5097E0B73E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585796-F7AC-E22A-DAA4-BFADBBE1AE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C30576-65F7-766C-094F-C9239AE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B9E1154-CDD8-EB91-949B-479B334BF67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endParaRPr lang="en-GB" dirty="0"/>
          </a:p>
          <a:p>
            <a:r>
              <a:rPr lang="en-GB" dirty="0"/>
              <a:t>Portfolio trends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21DC0E-2ACB-F130-731C-38C80934C0BA}"/>
              </a:ext>
            </a:extLst>
          </p:cNvPr>
          <p:cNvSpPr/>
          <p:nvPr/>
        </p:nvSpPr>
        <p:spPr>
          <a:xfrm>
            <a:off x="4467601" y="2720084"/>
            <a:ext cx="7567200" cy="1739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8A9620-EABF-7EE8-9AD9-DC016D1A3074}"/>
              </a:ext>
            </a:extLst>
          </p:cNvPr>
          <p:cNvGrpSpPr/>
          <p:nvPr/>
        </p:nvGrpSpPr>
        <p:grpSpPr>
          <a:xfrm>
            <a:off x="5682921" y="1563345"/>
            <a:ext cx="5119353" cy="332898"/>
            <a:chOff x="5682921" y="2898499"/>
            <a:chExt cx="5119353" cy="33289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96D49B4-3075-D523-A87B-34907DB1D635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12943039-BE55-8114-7DAD-5D4EF8731FF6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B5A5871D-7343-4BC4-31A9-01F0CD087096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Objectives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F51B979-8832-1084-DED6-F0BE94169ECE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 trends per capability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0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between January 2026 and March 2026</a:t>
            </a:r>
          </a:p>
        </p:txBody>
      </p:sp>
      <p:graphicFrame>
        <p:nvGraphicFramePr>
          <p:cNvPr id="6" name="PROGRES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3343684" y="392400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A7D2-16D5-A283-E5D3-02028E6C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02B0A-CA08-2984-487D-E204E84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036A146-29BF-7CA2-2908-F2C86F33F1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FB01E-7199-3087-1F83-52C1190C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over time</a:t>
            </a:r>
          </a:p>
        </p:txBody>
      </p:sp>
      <p:graphicFrame>
        <p:nvGraphicFramePr>
          <p:cNvPr id="6" name="PROGRESS_TIME_CHART">
            <a:extLst>
              <a:ext uri="{FF2B5EF4-FFF2-40B4-BE49-F238E27FC236}">
                <a16:creationId xmlns:a16="http://schemas.microsoft.com/office/drawing/2014/main" id="{52C16B72-396C-FACA-8BB0-F4504E8F3C3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A1C5AF-9085-C111-CACA-05BD3DAB557A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F3C6A-7DFB-53D1-2356-25E4D5CBC43A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73353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7376D-DF88-6D74-9C9C-4F16D33E7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458A9EA-AB86-5971-70BD-18746FED9B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Progress towards objectives per capability between January 2026 and March 2026</a:t>
            </a:r>
          </a:p>
        </p:txBody>
      </p:sp>
      <p:graphicFrame>
        <p:nvGraphicFramePr>
          <p:cNvPr id="6" name="PROGRES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673381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3352012" y="594107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7090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9A0F-B83A-EBEB-A808-30AD19FF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DF103-9A84-4CFA-15FA-0BD904F9B3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7307F2D-FDB8-AC4C-ACFA-CDBAE3CD8F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46EF3-CD28-FFA0-169F-DB5D8A0C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Maintainability</a:t>
            </a:r>
          </a:p>
        </p:txBody>
      </p:sp>
      <p:graphicFrame>
        <p:nvGraphicFramePr>
          <p:cNvPr id="6" name="PROGRESS_MAINTAINABILITY_TIME_CHART">
            <a:extLst>
              <a:ext uri="{FF2B5EF4-FFF2-40B4-BE49-F238E27FC236}">
                <a16:creationId xmlns:a16="http://schemas.microsoft.com/office/drawing/2014/main" id="{6A5764CB-E5B1-083A-A3BC-4B4C31D364C6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CC9FF0-AB79-ABC8-F329-16AC81263C86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580F-B6CD-77C6-14B9-30EB83366C2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240619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3548-AF8A-DB5D-1B63-77CE6768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42CA01-A950-E39F-CC0E-94DE74A9CA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7A2343E-4E3B-DE64-59CA-4672A9243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F2716D-9FE8-0CD3-81E1-C55968C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Architecture</a:t>
            </a:r>
          </a:p>
        </p:txBody>
      </p:sp>
      <p:graphicFrame>
        <p:nvGraphicFramePr>
          <p:cNvPr id="6" name="PROGRESS_ARCHITECTURE_TIME_CHART">
            <a:extLst>
              <a:ext uri="{FF2B5EF4-FFF2-40B4-BE49-F238E27FC236}">
                <a16:creationId xmlns:a16="http://schemas.microsoft.com/office/drawing/2014/main" id="{7507C9AC-02D8-080E-E0DF-076B8886E4D4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71B99D-BF0F-6325-0317-FAF16C1BFC8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C1496-868F-E561-71C3-7A9DC6833873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393954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560-0589-B274-3129-E2437CFA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9B3573-6428-0E36-04D1-823E45CA08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GB" dirty="0"/>
              <a:t>Objectives – Open Source Health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EFD069-A5E8-28E5-C656-D9092244E0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90226-C387-AD0E-CB48-3AC0D6BA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Open Source Health</a:t>
            </a:r>
          </a:p>
        </p:txBody>
      </p:sp>
      <p:graphicFrame>
        <p:nvGraphicFramePr>
          <p:cNvPr id="6" name="PROGRESS_OSH_TIME_CHART">
            <a:extLst>
              <a:ext uri="{FF2B5EF4-FFF2-40B4-BE49-F238E27FC236}">
                <a16:creationId xmlns:a16="http://schemas.microsoft.com/office/drawing/2014/main" id="{CEFBE414-6C0F-D888-D92A-8F4B1578B1E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F32ED1-229A-B9CF-7034-34B50F9DA34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B8231-088E-AD7D-64C5-DE763E94554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367510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3B19-00F5-BFA0-C36C-ACEB0F91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33F2A3-DC2A-0CBF-4932-AEA088FF9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D7CB3C8-5FC1-63F4-9226-2151F8280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05556D-9CC2-9B0A-DDA8-9AF0AA5A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Security</a:t>
            </a:r>
          </a:p>
        </p:txBody>
      </p:sp>
      <p:graphicFrame>
        <p:nvGraphicFramePr>
          <p:cNvPr id="6" name="PROGRESS_SECURITY_TIME_CHART">
            <a:extLst>
              <a:ext uri="{FF2B5EF4-FFF2-40B4-BE49-F238E27FC236}">
                <a16:creationId xmlns:a16="http://schemas.microsoft.com/office/drawing/2014/main" id="{C6FA88CE-DDBE-C10D-7439-48AFDF8BC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605918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152522-5061-5A0D-7288-66E187FB7C31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72B87-2D1E-D2F1-65AB-69BA6680A392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134336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88B32-26A7-257B-DDDE-599EEC4CEC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747448" cy="228145"/>
          </a:xfrm>
        </p:spPr>
        <p:txBody>
          <a:bodyPr/>
          <a:lstStyle/>
          <a:p>
            <a:r>
              <a:rPr lang="en-GB" dirty="0"/>
              <a:t>Objectives – Status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D154-723A-2909-18F9-136A88A427F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773B6-825A-4167-35E1-B39EF2B943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6A0FA-E540-B347-F0E6-078404ED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 between January 2026 and March 2026</a:t>
            </a:r>
          </a:p>
        </p:txBody>
      </p:sp>
      <p:graphicFrame>
        <p:nvGraphicFramePr>
          <p:cNvPr id="7" name="OBJECTIVES_STATUS_CHART">
            <a:extLst>
              <a:ext uri="{FF2B5EF4-FFF2-40B4-BE49-F238E27FC236}">
                <a16:creationId xmlns:a16="http://schemas.microsoft.com/office/drawing/2014/main" id="{2EDB28D6-D893-2834-1452-760EA34FA080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CF6F7A-28F4-82F4-BD9F-05E947064F24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64C5C-AD9F-1F4B-55E5-F3377812A35C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2441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576D7E-6A52-4C14-1626-F436107D18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578812" cy="228145"/>
          </a:xfrm>
        </p:spPr>
        <p:txBody>
          <a:bodyPr/>
          <a:lstStyle/>
          <a:p>
            <a:r>
              <a:rPr lang="en-GB" dirty="0"/>
              <a:t>Objectives –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C7CD8-F0E2-3AA8-5650-3D8DA4191E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A563-94D2-2769-14DD-8932B8AF8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CF856C-82D4-2AD8-52DB-B4AC6587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 per team between January 2026 and March 2026</a:t>
            </a:r>
          </a:p>
        </p:txBody>
      </p:sp>
      <p:graphicFrame>
        <p:nvGraphicFramePr>
          <p:cNvPr id="11" name="OBJECTIVES_TEAM_CHART">
            <a:extLst>
              <a:ext uri="{FF2B5EF4-FFF2-40B4-BE49-F238E27FC236}">
                <a16:creationId xmlns:a16="http://schemas.microsoft.com/office/drawing/2014/main" id="{90D37655-7D68-97A1-42BD-3EA9E53215FD}"/>
              </a:ext>
            </a:extLst>
          </p:cNvPr>
          <p:cNvGraphicFramePr/>
          <p:nvPr/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D842B39-F206-50DB-DCE4-FBFE6B59063D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FE085-67E8-695F-F564-B8C48BE4ECD4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125033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E287AD-36A0-DD07-3A6C-318F5D2B1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084720" cy="228145"/>
          </a:xfrm>
        </p:spPr>
        <p:txBody>
          <a:bodyPr/>
          <a:lstStyle/>
          <a:p>
            <a:r>
              <a:rPr lang="en-GB" dirty="0"/>
              <a:t>Objectives – Capability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9CDB-F8BA-4683-92D5-E4255AE0D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B7156-CCFF-605D-4D31-9506947FE0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7C09E9-29E6-1EC3-4D1D-7D72EF93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 per capability between January 2026 and March 2026</a:t>
            </a:r>
          </a:p>
        </p:txBody>
      </p:sp>
      <p:graphicFrame>
        <p:nvGraphicFramePr>
          <p:cNvPr id="7" name="OBJECTIVES_CAPABILITY_CHART">
            <a:extLst>
              <a:ext uri="{FF2B5EF4-FFF2-40B4-BE49-F238E27FC236}">
                <a16:creationId xmlns:a16="http://schemas.microsoft.com/office/drawing/2014/main" id="{F7EC7942-12DF-47CD-7568-513CF44E5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71865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0E694A-649F-7E3D-3A63-6F6D6F81E40E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E8EC1-BCA9-D803-2F62-A8F5EF7DDCDA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96346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481FAE-4A75-47A8-A91D-55F888E11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831765" cy="228145"/>
          </a:xfrm>
        </p:spPr>
        <p:txBody>
          <a:bodyPr/>
          <a:lstStyle/>
          <a:p>
            <a:r>
              <a:rPr lang="en-GB" dirty="0"/>
              <a:t>Objectives – Overall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B6BB-5502-6059-F44F-990FF73C43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F516E-D9DE-46A4-39EC-49C4A7E4D7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68BC10-5510-3D83-FFE3-706AA2FB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 over time</a:t>
            </a:r>
          </a:p>
        </p:txBody>
      </p:sp>
      <p:graphicFrame>
        <p:nvGraphicFramePr>
          <p:cNvPr id="7" name="OBJECTIVES_OVERALL_CHART">
            <a:extLst>
              <a:ext uri="{FF2B5EF4-FFF2-40B4-BE49-F238E27FC236}">
                <a16:creationId xmlns:a16="http://schemas.microsoft.com/office/drawing/2014/main" id="{717088A6-F703-E509-DF51-C3923B3A075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30F4B4-9201-428C-E53A-F1AEFD8E5616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D3893-DC86-A976-1AB5-AE31EF208FC8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8823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51F31D-6F2E-DFE6-587E-A78BD8E88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895C3-ED96-7EAA-081E-E246ABA2BF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E7E0D-EF19-08C9-4FF3-D419036690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977723-C726-4DFE-2330-B77DBE26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objectives: Security</a:t>
            </a:r>
          </a:p>
        </p:txBody>
      </p:sp>
      <p:graphicFrame>
        <p:nvGraphicFramePr>
          <p:cNvPr id="7" name="OBJECTIVES_SECURITY_CHART">
            <a:extLst>
              <a:ext uri="{FF2B5EF4-FFF2-40B4-BE49-F238E27FC236}">
                <a16:creationId xmlns:a16="http://schemas.microsoft.com/office/drawing/2014/main" id="{FE1E4419-38A2-FC5F-E723-8277D7239FCE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E2DC61A-F9F3-987F-31AE-C332F7F54B2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7B2F6-4CBE-9108-1F8E-D799C529DCCF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00646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A2875A-8544-1533-7916-43BBF6E82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843581" cy="228145"/>
          </a:xfrm>
        </p:spPr>
        <p:txBody>
          <a:bodyPr/>
          <a:lstStyle/>
          <a:p>
            <a:r>
              <a:rPr lang="en-GB" dirty="0"/>
              <a:t>Objectives – Open-Source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FEB5E-6597-18A4-BEEB-888581F9565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A5E5-D48A-3B03-A54D-B02E30DC0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495C68-B12D-B774-99A2-0D8AD051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objectives: Open Source Health</a:t>
            </a:r>
          </a:p>
        </p:txBody>
      </p:sp>
      <p:graphicFrame>
        <p:nvGraphicFramePr>
          <p:cNvPr id="7" name="OBJECTIVES_OSH_CHART">
            <a:extLst>
              <a:ext uri="{FF2B5EF4-FFF2-40B4-BE49-F238E27FC236}">
                <a16:creationId xmlns:a16="http://schemas.microsoft.com/office/drawing/2014/main" id="{0EBCAFE5-E641-00DD-A9BA-54DDF716F8A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2A8387-99CF-53E7-C02C-0F47937D058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B4172-3DFC-6A98-8387-0A5860FF68EC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1704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BCFC-165E-6074-D295-7213C886B0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90627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2143-4E69-C9AB-EF61-72293A1BC1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2AA93-DDC2-222A-347A-F3D1A30F0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1FF725-8BE2-FFE6-09CA-89427E9C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objectives: Maintainability</a:t>
            </a:r>
          </a:p>
        </p:txBody>
      </p:sp>
      <p:graphicFrame>
        <p:nvGraphicFramePr>
          <p:cNvPr id="7" name="OBJECTIVES_MAINTAINABILITY_CHART">
            <a:extLst>
              <a:ext uri="{FF2B5EF4-FFF2-40B4-BE49-F238E27FC236}">
                <a16:creationId xmlns:a16="http://schemas.microsoft.com/office/drawing/2014/main" id="{B1D17370-4289-2EDA-3CF4-CDE176E45E7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D94812-AFF9-6320-FC55-9DFAD9E49F5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5A181-CE4E-BF8F-1749-76DA5E7EB5F5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38694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7335B8-EE82-608B-22C4-A627436D36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E40D1-0E68-7E25-1B05-ACD30948CC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A783F-27CE-A200-297F-D46B148F653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D9A223-DF60-A573-9531-80EE0F5E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objectives: Architecture</a:t>
            </a:r>
          </a:p>
        </p:txBody>
      </p:sp>
      <p:graphicFrame>
        <p:nvGraphicFramePr>
          <p:cNvPr id="7" name="OBJECTIVES_ARCHITECTURE_CHART">
            <a:extLst>
              <a:ext uri="{FF2B5EF4-FFF2-40B4-BE49-F238E27FC236}">
                <a16:creationId xmlns:a16="http://schemas.microsoft.com/office/drawing/2014/main" id="{160E225E-2E69-5802-F5E6-34A8D5119A3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47C19-C293-E59B-609F-8B720AE9857C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4C6F2-6589-ECFC-76DC-423AFBC2B3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54342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geronde rechthoek 33">
            <a:extLst>
              <a:ext uri="{FF2B5EF4-FFF2-40B4-BE49-F238E27FC236}">
                <a16:creationId xmlns:a16="http://schemas.microsoft.com/office/drawing/2014/main" id="{5C67D71A-21D5-7B62-C401-C5338679DFE0}"/>
              </a:ext>
            </a:extLst>
          </p:cNvPr>
          <p:cNvSpPr/>
          <p:nvPr/>
        </p:nvSpPr>
        <p:spPr>
          <a:xfrm>
            <a:off x="4454347" y="1406584"/>
            <a:ext cx="7567201" cy="20333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159244B-2E65-D403-B5EA-9ABB5CA8CB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</p:spPr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7C3B66-2BB8-6651-49B3-C22404EF56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D0FD1C-DD8F-FA69-E8D5-51EBF8A0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8640D79-73F3-DDBF-46E3-A770D0CE4F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7999"/>
            <a:ext cx="7092000" cy="273472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r>
              <a:rPr lang="en-GB" dirty="0"/>
              <a:t>Portfolio trends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64DC9F-CC1F-F90B-BAEE-7FE68259B0A0}"/>
              </a:ext>
            </a:extLst>
          </p:cNvPr>
          <p:cNvGrpSpPr/>
          <p:nvPr/>
        </p:nvGrpSpPr>
        <p:grpSpPr>
          <a:xfrm>
            <a:off x="5678270" y="2777977"/>
            <a:ext cx="2396827" cy="332897"/>
            <a:chOff x="5682921" y="2898500"/>
            <a:chExt cx="2396827" cy="332897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64776AD-70C4-808F-74DD-3C14795FF549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6E313BE-4539-951D-39B6-8270E8E286F4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Security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AEFF71-AFAA-2A9B-1B52-69C00DF203AA}"/>
              </a:ext>
            </a:extLst>
          </p:cNvPr>
          <p:cNvGrpSpPr/>
          <p:nvPr/>
        </p:nvGrpSpPr>
        <p:grpSpPr>
          <a:xfrm>
            <a:off x="5682921" y="2128093"/>
            <a:ext cx="5119353" cy="332898"/>
            <a:chOff x="5682921" y="2898499"/>
            <a:chExt cx="5119353" cy="332898"/>
          </a:xfrm>
        </p:grpSpPr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CF5648A5-989D-607F-8E33-BE663B334A22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6199A04C-EC60-FB43-DB8D-97CCBCA311F4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277D7F99-1C55-864A-511F-89B598866BE7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E7FB80B6-7D6D-E1C4-A31F-209945D62AC9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60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012217" cy="228209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63DE-00A7-4FC0-4AEC-0B46C34CBF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7 (58%) systems score market average on maintainability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2.5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8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58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33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00F3-3D18-CF63-16D4-96CA7839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14AA8-0AD7-EDFF-9986-B230DB557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1BFF63-C4B5-7AB9-E5D9-E74391AFD9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9EB6A-8DF6-69EE-B118-CBF9A8558A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20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FF12C5-E73A-8501-2BCE-9BD95E2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Lifecycle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9C8604-49B1-C79B-52E3-E11913D09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44EBA72-3AF3-C450-92C3-70B42255A7A7}"/>
              </a:ext>
            </a:extLst>
          </p:cNvPr>
          <p:cNvSpPr txBox="1"/>
          <p:nvPr/>
        </p:nvSpPr>
        <p:spPr>
          <a:xfrm>
            <a:off x="2643466" y="6054740"/>
            <a:ext cx="1520116" cy="225126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Lifecycle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49045C-A3DB-D503-5F61-D4753A6B2ED2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24AC01-AE32-E25C-2E9D-D62F1A546D5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E528D542-C236-FC7F-A86B-58E301E03F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8A81E2-505A-2686-805D-D50F2ED4D58F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DC148D-262C-83BE-A7DB-4CEECDA9841D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3216D68-D9B6-5F6A-FBB5-3659B7899E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C52AC4-11B0-1D06-863D-8E95DF4FAEE5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CAE05B-9910-83DD-05A3-9ED3538CAB1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B02E6CFD-57D4-174C-07D0-383B813F6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6E1917-406F-73B3-C93D-1D8325F31D6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7C8CEE-6BFB-AD76-8318-6426CA6A5C12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8290A5E7-04EA-1335-3D95-D2A8C4CF3F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C1BB1CA-50D6-5754-E886-56DDDB6B630E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AE7018-A3D7-FF0D-2550-A7320B145E2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DBAC6E5-512A-CB63-DCC5-44139D7EAC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BD4EC-E668-DDBB-C898-CDC11794C48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4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E1A0-F677-7ABE-9F7B-0B74434D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E9586-B72E-67FD-21F0-E86559BC65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8337E4-C7B3-967F-A5FA-450CDEAD96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5351A-A8A1-C0E9-116D-C791E57414D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21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DB2541-F26E-1A45-8C1C-10C58277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Deployment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BC813-1EFC-AA71-9CF7-12E30412E01E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C797B5-3356-1576-4F18-BFFC41D8A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358172D-32D9-F7C1-D993-4B31C910BDC4}"/>
              </a:ext>
            </a:extLst>
          </p:cNvPr>
          <p:cNvSpPr txBox="1"/>
          <p:nvPr/>
        </p:nvSpPr>
        <p:spPr>
          <a:xfrm>
            <a:off x="2643466" y="6054740"/>
            <a:ext cx="179423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Deployment Type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4076F7-E0CB-4844-36A0-D8ADEDF46A51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6BDAFEE-BD87-364A-427B-1ADAFE9D2FD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A5818A4-3349-D5D3-42AF-155A2D396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C7B01C-4916-26E1-BEC3-B97CA46AC676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15FDF0-0DD1-688E-2C19-BE57D0DA2F90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F55BD8D-BD79-0350-2FF6-1D572839C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2A0D7B8-8D00-392D-59FD-31D01E88F3E8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2AE4D71-1C4A-A29C-0135-FB7FC88EE56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8395B98-85FF-EEBA-96FB-A7FD10538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E17E4DA-2C3C-2AE2-3363-D2D775759D3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1EF211C-C030-38AE-15E4-BA37EEBA212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618CD8B-F77F-7B94-7099-D2A6E0871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887D693-398F-725A-9E0E-7CE3C9CEBF7F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213B5F-642D-ACFE-8DAA-017FB6B32DF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5212BCE3-BB24-D5A2-9072-32AB9DC116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56A5C-934D-E3B5-596C-448BF20A39E1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01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90F2-097E-682B-E154-B7F5F68A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A01EA-8BF6-6C6E-C2EA-026E3BA52E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A6A741-490B-4D85-EDEC-A2D787FD2B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532D-92C0-31A1-1473-96C62B00C1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22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82FDEF-4FFE-5D1A-E5F7-E673D396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Business Criticality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214E2-3C43-8276-BC3B-196FE252F2B4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6D6577-B13F-B6A8-C50E-B92434047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CC91BC5-C6A3-5E77-246D-36FE2F685E7F}"/>
              </a:ext>
            </a:extLst>
          </p:cNvPr>
          <p:cNvSpPr txBox="1"/>
          <p:nvPr/>
        </p:nvSpPr>
        <p:spPr>
          <a:xfrm>
            <a:off x="2643466" y="6054740"/>
            <a:ext cx="1864762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Business Criticality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38E846-65C7-5F8A-02D3-5E9652F1F70D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46B051-EB92-D2E7-6D04-74636614C2A9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99D95B88-8CC0-573A-6535-1AF23E138B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CBF650-7B39-402A-827B-0981957A785C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00EB7BA-5DEA-3F0D-197E-72B2F548A84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99B21F0D-B748-B211-AE94-D684974C74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F94FE93-43F4-84F8-E7F2-D0A5E5B08F99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36C1F78-BC5D-CEC8-ED18-7E9E38E2B3F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A4081921-0E01-5FE7-D962-38E98F27E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DD3B032-3BEE-87E0-6573-8C81BBB66BA1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4B3E38A-DFD6-B7C0-F31B-4A4BF82291B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CE0EE23E-F45B-7E9B-0DB6-9538874186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729FE5C-29C5-D102-FDA1-A0608E280B55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EF10E4-21F6-AF24-DEE6-649B26F77B1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DE93FE0A-13E1-4209-1411-4A41EBD2C8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FE69-CB4F-3856-7D00-A94F1E209BB2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57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012217" cy="228209"/>
          </a:xfrm>
        </p:spPr>
        <p:txBody>
          <a:bodyPr/>
          <a:lstStyle/>
          <a:p>
            <a:r>
              <a:rPr lang="en-US" dirty="0"/>
              <a:t>Portfolio trends - Maintainability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Confidential</a:t>
            </a:r>
            <a:endParaRPr lang="en-US" noProof="0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7 (58%) systems score market average on maintainability</a:t>
            </a:r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771079" cy="228209"/>
          </a:xfrm>
        </p:spPr>
        <p:txBody>
          <a:bodyPr/>
          <a:lstStyle/>
          <a:p>
            <a:r>
              <a:rPr lang="en-GB" dirty="0"/>
              <a:t>Portfolio trends – Maintainability – Change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9DC56-8462-CF33-E81E-8455477D979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portfolio's maintainability has decreased (with -0.7 to 2.5) during the measured period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8% of systems has seen an increase in maintainability. 8% of systems has remained stable. 83%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maintainability rating was experienced by integrationtest-druid (0.0 stars). The largest decrease in maintainability rating was experienced by integrationtest-vscode (0.0 stars).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6C1F-5778-E596-B40D-BC39A30290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843581" cy="228209"/>
          </a:xfrm>
        </p:spPr>
        <p:txBody>
          <a:bodyPr/>
          <a:lstStyle/>
          <a:p>
            <a:r>
              <a:rPr lang="en-GB" dirty="0"/>
              <a:t>Portfolio trends – Volume Change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366C7-3114-4B4C-4D7B-B7C04086F13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6CC33-85BB-6686-87C3-6E2C1EC480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237797-15BA-3A3C-A5DB-CEBB6BFC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volume (effort) of the portfolio between 11 January 2026 and 8 March 2026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91A62A-783F-7AF6-89B3-FD236EF5EA4F}"/>
              </a:ext>
            </a:extLst>
          </p:cNvPr>
          <p:cNvGrpSpPr/>
          <p:nvPr/>
        </p:nvGrpSpPr>
        <p:grpSpPr>
          <a:xfrm>
            <a:off x="626780" y="5849109"/>
            <a:ext cx="2760731" cy="223844"/>
            <a:chOff x="512064" y="6054740"/>
            <a:chExt cx="2760731" cy="223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F34C57-170D-5311-7541-AFD3500F5E86}"/>
                </a:ext>
              </a:extLst>
            </p:cNvPr>
            <p:cNvSpPr txBox="1"/>
            <p:nvPr/>
          </p:nvSpPr>
          <p:spPr>
            <a:xfrm>
              <a:off x="1996335" y="6054740"/>
              <a:ext cx="127646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Systems grouped by </a:t>
              </a:r>
              <a:r>
                <a:rPr lang="en-GB" sz="800" b="1" dirty="0">
                  <a:solidFill>
                    <a:schemeClr val="tx2"/>
                  </a:solidFill>
                </a:rPr>
                <a:t>Team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9EF8ADA-DE01-AA30-2028-ED49BE436A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122" y="6118505"/>
              <a:ext cx="91440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D5863-7369-49C4-1B54-EEA04955F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992" y="6118505"/>
              <a:ext cx="91440" cy="91440"/>
            </a:xfrm>
            <a:prstGeom prst="roundRect">
              <a:avLst/>
            </a:prstGeom>
            <a:solidFill>
              <a:srgbClr val="EFE6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52AC297-2CB7-56A7-5F80-FC2404D96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8862" y="6118505"/>
              <a:ext cx="91440" cy="91440"/>
            </a:xfrm>
            <a:prstGeom prst="roundRect">
              <a:avLst/>
            </a:prstGeom>
            <a:solidFill>
              <a:srgbClr val="F7F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88086E6-082A-B2A9-7D0B-B77386A1B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8732" y="6118505"/>
              <a:ext cx="91440" cy="91440"/>
            </a:xfrm>
            <a:prstGeom prst="roundRect">
              <a:avLst/>
            </a:prstGeom>
            <a:solidFill>
              <a:srgbClr val="D8E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A065D0B-30E5-B7B4-A9AE-146C6FBBB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8602" y="6118505"/>
              <a:ext cx="91440" cy="91440"/>
            </a:xfrm>
            <a:prstGeom prst="roundRect">
              <a:avLst/>
            </a:prstGeom>
            <a:solidFill>
              <a:srgbClr val="58B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295768-BD04-4C08-1C9F-E6A857D50707}"/>
                </a:ext>
              </a:extLst>
            </p:cNvPr>
            <p:cNvSpPr txBox="1"/>
            <p:nvPr/>
          </p:nvSpPr>
          <p:spPr>
            <a:xfrm>
              <a:off x="1678471" y="6054740"/>
              <a:ext cx="34191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+PY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6564EB-114B-305E-F2F4-C36CA3CBD1C9}"/>
                </a:ext>
              </a:extLst>
            </p:cNvPr>
            <p:cNvSpPr txBox="1"/>
            <p:nvPr/>
          </p:nvSpPr>
          <p:spPr>
            <a:xfrm>
              <a:off x="512064" y="6054740"/>
              <a:ext cx="322674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-PY</a:t>
              </a: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29A432BB-A903-CCB9-4E0F-E5A85232B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494787E-2446-5685-907F-157921FE4F1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noProof="0" dirty="0"/>
              <a:t>The portfolio has seen an overall increase in volume of 19.9 person years.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The system integrationtest-elasticsearch has seen the biggest change with an increase of 10.7 person years.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6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4FC4-92FA-133B-51E6-15AF607B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83DCD-7C70-900D-43B4-CE96EF7B7F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0B54-B832-6085-49CA-E85C45796DA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13365-7513-F41E-A229-F5E5011630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3AD90-B853-FCBB-8AD0-E3ECB744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Test-to-production code ratios of the portfolio between 11 January 2026 and 8 March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D8A7E-FC89-374D-3928-733975E07F2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318A3D-4B01-E38F-0096-41FFF1B28944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B111F-FBB9-EA13-F251-F40E05265B0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D12FC3-B3EE-A681-5D2C-4218A1C30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FB8AA5-C615-8F28-1025-70C65A980764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7C06F8-9044-79E7-C86A-2D8041876F85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887F516-DD39-62A6-32D1-0B6374265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6264C-A1FC-6A59-5FF0-B02177854F9D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767932-53B3-03DB-2C57-283ECA8F4412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B5BF329-CA8A-DA0E-3BAF-54E577023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39F19E-79AC-7455-2D15-72A0F595FFC9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0A24F1-37A5-9F07-855B-7E46A52C102C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5CD8E8A-19FB-CC94-9D8A-28911D7068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3AD9C7-8D68-456A-B040-0C3083E160F6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D2D40F-86C4-A805-5564-B535E1BDEA4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001D75D-95FB-3C51-F392-A5E177860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A5EBD51A-EAC9-1AE9-F142-54EBB16F3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5EE8E18-8776-00A3-9C94-97989DFBACF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25% systems have a test code ratio of &lt; 50%.</a:t>
            </a:r>
          </a:p>
          <a:p>
            <a:pPr indent="-283845"/>
            <a:r>
              <a:rPr lang="en-GB" sz="1550" dirty="0"/>
              <a:t>42% of systems have a test code ratio between 50% and 100%.</a:t>
            </a:r>
          </a:p>
          <a:p>
            <a:pPr indent="-283845"/>
            <a:r>
              <a:rPr lang="en-GB" sz="1550" dirty="0"/>
              <a:t>33% of systems have a test code ratio ≥ 100%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64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FD6A-9E05-3D46-E60D-058AD3DF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93391-04C7-7757-5D2A-13EDA0DE2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951530" cy="228209"/>
          </a:xfrm>
        </p:spPr>
        <p:txBody>
          <a:bodyPr/>
          <a:lstStyle/>
          <a:p>
            <a:r>
              <a:rPr lang="en-GB" dirty="0"/>
              <a:t>Portfolio trends – Test-to-production code ratio – Change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1581-856E-3020-C018-13E27E6358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CB48E-331C-26C2-9486-41470DE99B0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192D23-A084-1C07-108E-A039F527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test-to-production code ratios of the portfolio between 11 January 2026 and 8 March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C737C-0323-E724-2600-C1FD0C48F918}"/>
              </a:ext>
            </a:extLst>
          </p:cNvPr>
          <p:cNvSpPr txBox="1"/>
          <p:nvPr/>
        </p:nvSpPr>
        <p:spPr>
          <a:xfrm>
            <a:off x="2083423" y="5828312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5CC23-7FB2-3819-DF45-F461573B4C64}"/>
              </a:ext>
            </a:extLst>
          </p:cNvPr>
          <p:cNvSpPr txBox="1"/>
          <p:nvPr/>
        </p:nvSpPr>
        <p:spPr>
          <a:xfrm>
            <a:off x="1765559" y="5828312"/>
            <a:ext cx="309850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FA911-0B10-AF2D-A9C0-DD22BC1BBD4E}"/>
              </a:ext>
            </a:extLst>
          </p:cNvPr>
          <p:cNvSpPr txBox="1"/>
          <p:nvPr/>
        </p:nvSpPr>
        <p:spPr>
          <a:xfrm>
            <a:off x="599152" y="5828312"/>
            <a:ext cx="290614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-%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5916BB-0B42-8048-110F-7C3BB681E20B}"/>
              </a:ext>
            </a:extLst>
          </p:cNvPr>
          <p:cNvSpPr>
            <a:spLocks noChangeAspect="1"/>
          </p:cNvSpPr>
          <p:nvPr/>
        </p:nvSpPr>
        <p:spPr>
          <a:xfrm>
            <a:off x="966210" y="5892077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7EB203-3DE5-97DD-075C-0B587EC23CA8}"/>
              </a:ext>
            </a:extLst>
          </p:cNvPr>
          <p:cNvSpPr>
            <a:spLocks noChangeAspect="1"/>
          </p:cNvSpPr>
          <p:nvPr/>
        </p:nvSpPr>
        <p:spPr>
          <a:xfrm>
            <a:off x="1126080" y="5892077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C54916-F833-9417-0E3F-376D5F92F098}"/>
              </a:ext>
            </a:extLst>
          </p:cNvPr>
          <p:cNvSpPr>
            <a:spLocks noChangeAspect="1"/>
          </p:cNvSpPr>
          <p:nvPr/>
        </p:nvSpPr>
        <p:spPr>
          <a:xfrm>
            <a:off x="1285950" y="5892077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2403CD-7F96-B10B-C967-0067917FCE2C}"/>
              </a:ext>
            </a:extLst>
          </p:cNvPr>
          <p:cNvSpPr>
            <a:spLocks noChangeAspect="1"/>
          </p:cNvSpPr>
          <p:nvPr/>
        </p:nvSpPr>
        <p:spPr>
          <a:xfrm>
            <a:off x="1445820" y="5892077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C43A55-E9EE-0CF2-1BEE-A73AE19E5A7B}"/>
              </a:ext>
            </a:extLst>
          </p:cNvPr>
          <p:cNvSpPr>
            <a:spLocks noChangeAspect="1"/>
          </p:cNvSpPr>
          <p:nvPr/>
        </p:nvSpPr>
        <p:spPr>
          <a:xfrm>
            <a:off x="1605690" y="5892077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2D1771-D0CC-C082-F03C-E4AF23AD0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E2A0B08-A1F1-2331-6663-DCAE2EB4D3E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Overall, there has been a decrease in test code ratio for the portfolio (-2.3%).</a:t>
            </a:r>
            <a:endParaRPr lang="en-GB" sz="1550" noProof="0" dirty="0"/>
          </a:p>
          <a:p>
            <a:pPr indent="-283845"/>
            <a:r>
              <a:rPr lang="en-GB" sz="1550" dirty="0"/>
              <a:t>42% of systems have seen an increase in test code ratio while 17% of systems have seen a decrease. </a:t>
            </a:r>
          </a:p>
          <a:p>
            <a:pPr indent="-283845"/>
            <a:r>
              <a:rPr lang="en-GB" sz="1550" dirty="0"/>
              <a:t>The largest increase in test code ratio was experienced by integrationtest-zuul (+3.9%). The largest decrease in test code ratio was experienced by integrationtest-jruby (-23.4%).</a:t>
            </a:r>
            <a:endParaRPr lang="en-GB" sz="1550" dirty="0">
              <a:ea typeface="Calibri"/>
              <a:cs typeface="Calibri"/>
            </a:endParaRP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1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603A22-6C87-6123-7889-47059E7B5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759263" cy="228209"/>
          </a:xfrm>
        </p:spPr>
        <p:txBody>
          <a:bodyPr/>
          <a:lstStyle/>
          <a:p>
            <a:r>
              <a:rPr lang="en-GB" dirty="0"/>
              <a:t>Portfolio trends –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A4971-6A99-29AF-1BC3-87E1EAC3B19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BB1EC-B729-EEEB-51CD-99A133FF2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CDDECE-07F9-831D-887E-96F18B22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Architecture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60EA92-5FAE-DB20-C878-9397C39C8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2578C5-779F-2DE7-941C-EA21148CF77F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A2F3EE-ED58-8890-B4BF-4E9E9399E1CC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D72A90-1A63-5E0F-8B76-76CF390D221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617A234-0C3B-1517-E133-7B2E2BCA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C97830-5D0A-7C61-5790-8AE0D6258402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1F050E-BC5D-A674-AE97-CDA4545FA315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4B1977E-A39B-88F7-3A2F-1EB3EBC876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A3F2BC-D11A-47C0-2D59-EDE88F571DA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250C71-B11A-F676-5B3D-04096307F859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9EF1191-C257-976C-29AA-F1DA1D22A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A318A0-FABA-EB5B-A4DE-ADB204F5D0F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9D8162-537B-F3FD-4C5A-B95C9B9B31F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550F1B-DABE-4321-E085-10DEBDFB3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82E435-697F-C57C-1530-5C1E6B98227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E8F693-BD9E-2048-F83B-CAC471F85DB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93E0B17-8795-E431-6602-6FD9737C9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718E80B-E45D-BD72-6536-AB0C481281BD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Architecture Quality rating for the portfolio is 2.6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33% of systems score above market average for Architecture Quality (≥3.5★).</a:t>
            </a:r>
          </a:p>
          <a:p>
            <a:pPr indent="-283845"/>
            <a:r>
              <a:rPr lang="en-US" dirty="0"/>
              <a:t>33% of systems score market average for Architecture Quality (3★).</a:t>
            </a:r>
          </a:p>
          <a:p>
            <a:pPr indent="-283845"/>
            <a:r>
              <a:rPr lang="en-US" dirty="0"/>
              <a:t>33% of systems score below market average for Architecture Quality (≤2.5★).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69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07B4F-D7B8-1CEF-56A5-C9C18FBFD1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265171" cy="228209"/>
          </a:xfrm>
        </p:spPr>
        <p:txBody>
          <a:bodyPr/>
          <a:lstStyle/>
          <a:p>
            <a:r>
              <a:rPr lang="en-GB" dirty="0"/>
              <a:t>Portfolio trends – Open-Source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F3D46-14AA-5186-5BE6-A857453EEA4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6EA6-114E-BE00-9088-0FF2F34813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FBC53-E0F3-50EC-6D67-B2815BC9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Open-source health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53C8FF-A309-9635-AB10-3E7965715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E0572C-1734-61F0-856F-5E79E547DCB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88E0B2-1D87-C999-BC6A-C9E400EA29C4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7A6F15-7EE4-41DA-71F3-F8B932ABCB9E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C5FB1D3-CA1E-3CEF-9DCB-A533BD675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78352C9-05CD-024F-9FC8-A43B06C5296F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0ACC94-4A3B-E4A2-C515-92A1B0B85607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BAC351A-6A3D-8EE7-3400-48AC200F04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3C1BE7-DC33-05D7-A88F-E4549430313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258E72-CF1A-4DFE-52F3-DB2B89080DF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3B613B1-191F-17CB-8B90-A1C172B0B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C7A952-D4BD-C5BE-3ECD-80D0236B6DC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346C1E-F337-E3F0-51BC-42C15701A9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E88F2D9-0594-B652-C0EB-2B82B013E3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D99AA7-4DE9-A06B-FABC-D5259DB272D8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791E94-0AAD-9D1A-14E0-882C135761E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CB886B0-18FD-211D-FAB5-01B5BE7532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E223A60-5DA4-23C2-35E1-41CA53903EB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Open Source Health rating for the portfolio is 2.7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58% of systems score above market average for Open Source Health (≥3.5★).</a:t>
            </a:r>
          </a:p>
          <a:p>
            <a:pPr indent="-283845"/>
            <a:r>
              <a:rPr lang="en-US" dirty="0"/>
              <a:t>33% of systems score market average for Open Source Health (3★).</a:t>
            </a:r>
          </a:p>
          <a:p>
            <a:pPr indent="-283845"/>
            <a:r>
              <a:rPr lang="en-US" dirty="0"/>
              <a:t>8% of systems score below market average for Open Source Health (≤2.5★).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01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r>
              <a:rPr lang="en-US" dirty="0"/>
              <a:t>3% of dependencies (40 in total) used in the system contain one or more known vulnerabilities.</a:t>
            </a:r>
          </a:p>
          <a:p>
            <a:r>
              <a:rPr lang="en-US" dirty="0"/>
              <a:t>1% of dependencies (5 in total) uses a potentially restrictive open-source license (e.g. GPL/AGPL).</a:t>
            </a:r>
          </a:p>
          <a:p>
            <a:r>
              <a:rPr lang="en-US" dirty="0"/>
              <a:t>12% of dependencies (190 in total) used in the system have not been updated for over 2 years.</a:t>
            </a:r>
          </a:p>
          <a:p>
            <a:r>
              <a:rPr lang="en-US" dirty="0"/>
              <a:t>6% of dependencies (93 in total) does not use a package manager but is placed in the codebase directly.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738" y="1894014"/>
            <a:ext cx="835106" cy="265112"/>
          </a:xfrm>
        </p:spPr>
        <p:txBody>
          <a:bodyPr>
            <a:noAutofit/>
          </a:bodyPr>
          <a:lstStyle/>
          <a:p>
            <a:r>
              <a:rPr lang="en-US" b="0" dirty="0"/>
              <a:t>1529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91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251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158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855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174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Open Source Health Library Risks Overview</a:t>
            </a:r>
          </a:p>
        </p:txBody>
      </p:sp>
      <p:sp>
        <p:nvSpPr>
          <p:cNvPr id="10" name="Tijdelijke aanduiding voor voettekst 9">
            <a:extLst>
              <a:ext uri="{FF2B5EF4-FFF2-40B4-BE49-F238E27FC236}">
                <a16:creationId xmlns:a16="http://schemas.microsoft.com/office/drawing/2014/main" id="{85CC0D40-EB66-D793-CEA6-7AF5F045B2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9600" y="6462000"/>
            <a:ext cx="1085851" cy="231923"/>
          </a:xfrm>
        </p:spPr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30</a:t>
            </a:fld>
            <a:endParaRPr lang="nl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GB" dirty="0"/>
              <a:t>Key findings – Open Source and IP</a:t>
            </a:r>
          </a:p>
        </p:txBody>
      </p:sp>
      <p:graphicFrame>
        <p:nvGraphicFramePr>
          <p:cNvPr id="2" name="OSH_PORTFOLIO_OTHER_RISKS_GRAPH">
            <a:extLst>
              <a:ext uri="{FF2B5EF4-FFF2-40B4-BE49-F238E27FC236}">
                <a16:creationId xmlns:a16="http://schemas.microsoft.com/office/drawing/2014/main" id="{4C5859CA-0A2B-2CD5-4201-907438231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722614"/>
              </p:ext>
            </p:extLst>
          </p:nvPr>
        </p:nvGraphicFramePr>
        <p:xfrm>
          <a:off x="2855399" y="368819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PORTFOLIO_VULN_LEGAL_GRAPH">
            <a:extLst>
              <a:ext uri="{FF2B5EF4-FFF2-40B4-BE49-F238E27FC236}">
                <a16:creationId xmlns:a16="http://schemas.microsoft.com/office/drawing/2014/main" id="{A2E74F15-1B72-6504-9282-2CD201774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423153"/>
              </p:ext>
            </p:extLst>
          </p:nvPr>
        </p:nvGraphicFramePr>
        <p:xfrm>
          <a:off x="2855399" y="2891471"/>
          <a:ext cx="32400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1104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87597F-0CE6-6979-6D59-2CC306D18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4A6CB-9C92-0C40-9DFC-ECCD40B4D27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0E726-D390-617B-2837-17EF73C183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1F92A6-63AF-66FE-4BB0-42211685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Security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D9D636-CC1F-D5EE-82E8-F5B67A683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92C00B-839E-1F7C-C976-764E7FA89D08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D13A58-DDFB-6E93-06B8-8F73093435CB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09D3E1-5818-A7F6-D907-77EE9F47DC8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5E576A0-5957-C060-F7D5-462BF27703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3ADAAD-3940-3E4F-EE06-CD1CDD98C4D0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782A8A-DA3D-0449-1C4B-FDA35D728C06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76C0325-7FCB-4C5A-F1B9-2AA83897F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9104F-A474-DEBF-B0B1-04438939F3F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EE0DD2-01FA-7CE1-6138-8B452A78A60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0B3354E-3FA0-1D94-0ED5-6B55810CBC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8FDA72-1D6A-069B-BA6F-C9555EA6EE09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491AD94-EFFF-2C79-D5D8-7DF2D278614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7B8822E-BA13-A142-1266-C50778012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93157F-D848-9E05-25CB-0110AC5E4F8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F3218E-BE5D-1E5F-2E2F-80BD224CB1D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F1EC965-F313-A395-6AF8-C9756978D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38D86B0-827F-9466-0A66-C9807390BBCB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Security rating for the portfolio is 1.8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8% of systems score above market average for Security (≥3.5★).</a:t>
            </a:r>
          </a:p>
          <a:p>
            <a:pPr indent="-283845"/>
            <a:r>
              <a:rPr lang="en-US" dirty="0"/>
              <a:t>25% of systems score market average for Security (3★).</a:t>
            </a:r>
          </a:p>
          <a:p>
            <a:pPr indent="-283845"/>
            <a:r>
              <a:rPr lang="en-US" dirty="0"/>
              <a:t>67% of systems score below market average for Security(≤2.5★).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30764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11131</TotalTime>
  <Words>1633</Words>
  <Application>Microsoft Macintosh PowerPoint</Application>
  <PresentationFormat>Widescreen</PresentationFormat>
  <Paragraphs>288</Paragraphs>
  <Slides>31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☞NOIR PRO MEDIUM</vt:lpstr>
      <vt:lpstr>Arial</vt:lpstr>
      <vt:lpstr>Azeret Mono</vt:lpstr>
      <vt:lpstr>Azeret Mono Medium</vt:lpstr>
      <vt:lpstr>Calibri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Light theme (default)</vt:lpstr>
      <vt:lpstr>PowerPoint Presentation</vt:lpstr>
      <vt:lpstr>Outline of topics</vt:lpstr>
      <vt:lpstr>Progress towards objectives between OBJECTIVES_PERIOD_START and OBJECTIVES_PERIOD_END</vt:lpstr>
      <vt:lpstr>Progress towards objectives over time</vt:lpstr>
      <vt:lpstr>Progress towards objectives per capability between OBJECTIVES_PERIOD_START and OBJECTIVES_PERIOD_END</vt:lpstr>
      <vt:lpstr>Progress towards objectives: Maintainability</vt:lpstr>
      <vt:lpstr>Progress towards objectives: Architecture</vt:lpstr>
      <vt:lpstr>Progress towards objectives: Open Source Health</vt:lpstr>
      <vt:lpstr>Progress towards objectives: Security</vt:lpstr>
      <vt:lpstr>Progress towards objectives between OBJECTIVES_PERIOD_START and OBJECTIVES_PERIOD_END</vt:lpstr>
      <vt:lpstr>Progress towards objectives per team between OBJECTIVES_PERIOD_START and OBJECTIVES_PERIOD_END</vt:lpstr>
      <vt:lpstr>Progress towards objectives per capability between OBJECTIVES_PERIOD_START and OBJECTIVES_PERIOD_END</vt:lpstr>
      <vt:lpstr>Progress towards objectives over time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Index</vt:lpstr>
      <vt:lpstr>PORTFOLIO_PERIOD_MAINT_SHORT_SUMMARY</vt:lpstr>
      <vt:lpstr>Maintainability Grouped by Lifecycle</vt:lpstr>
      <vt:lpstr>Maintainability Grouped by Deployment Type</vt:lpstr>
      <vt:lpstr>Maintainability Grouped by Business Criticality</vt:lpstr>
      <vt:lpstr>PORTFOLIO_PERIOD_MAINT_SHORT_SUMMARY</vt:lpstr>
      <vt:lpstr>PORTFOLIO_PERIOD_MAINT_CHANGE_SHORT_SUMMARY</vt:lpstr>
      <vt:lpstr>Change in volume (effort) of the portfolio between PORTFOLIO_PERIOD_START_DATE and PORTFOLIO_PERIOD_END_DATE</vt:lpstr>
      <vt:lpstr>Test-to-production code ratios of the portfolio between PORTFOLIO_PERIOD_START_DATE and PORTFOLIO_PERIOD_END_DATE</vt:lpstr>
      <vt:lpstr>Change in test-to-production code ratios of the portfolio between PORTFOLIO_PERIOD_START_DATE and PORTFOLIO_PERIOD_END_DATE</vt:lpstr>
      <vt:lpstr>Architecture ratings of the portfolio between PORTFOLIO_PERIOD_START_DATE and PORTFOLIO_PERIOD_END_DATE</vt:lpstr>
      <vt:lpstr>Open-source health ratings of the portfolio between PORTFOLIO_PERIOD_START_DATE and PORTFOLIO_PERIOD_END_DATE</vt:lpstr>
      <vt:lpstr>Overall Open Source Health Library Risks Overview</vt:lpstr>
      <vt:lpstr>Security ratings of the portfolio between PORTFOLIO_PERIOD_START_DATE and PORTFOLIO_PERIOD_END_DATE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170</cp:revision>
  <cp:lastPrinted>2020-04-20T09:37:43Z</cp:lastPrinted>
  <dcterms:created xsi:type="dcterms:W3CDTF">2025-10-22T11:22:13Z</dcterms:created>
  <dcterms:modified xsi:type="dcterms:W3CDTF">2026-04-03T10:31:53Z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