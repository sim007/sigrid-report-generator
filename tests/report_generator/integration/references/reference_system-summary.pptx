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6.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8" r:id="rId5"/>
  </p:sldMasterIdLst>
  <p:notesMasterIdLst>
    <p:notesMasterId r:id="rId25"/>
  </p:notesMasterIdLst>
  <p:handoutMasterIdLst>
    <p:handoutMasterId r:id="rId26"/>
  </p:handoutMasterIdLst>
  <p:sldIdLst>
    <p:sldId id="1973" r:id="rId6"/>
    <p:sldId id="2010" r:id="rId7"/>
    <p:sldId id="11288" r:id="rId8"/>
    <p:sldId id="11394" r:id="rId9"/>
    <p:sldId id="2011" r:id="rId10"/>
    <p:sldId id="11482" r:id="rId11"/>
    <p:sldId id="11330" r:id="rId12"/>
    <p:sldId id="1988" r:id="rId13"/>
    <p:sldId id="2016" r:id="rId14"/>
    <p:sldId id="1824" r:id="rId15"/>
    <p:sldId id="11430" r:id="rId16"/>
    <p:sldId id="11483" r:id="rId17"/>
    <p:sldId id="11484" r:id="rId18"/>
    <p:sldId id="11481" r:id="rId19"/>
    <p:sldId id="11485" r:id="rId20"/>
    <p:sldId id="11486" r:id="rId21"/>
    <p:sldId id="2184" r:id="rId22"/>
    <p:sldId id="11487" r:id="rId23"/>
    <p:sldId id="114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973"/>
            <p14:sldId id="2010"/>
            <p14:sldId id="11288"/>
            <p14:sldId id="11394"/>
            <p14:sldId id="2011"/>
          </p14:sldIdLst>
        </p14:section>
        <p14:section name="Cost Estimation Model" id="{27B7B39D-A53A-0E42-877A-CE78F793FEC4}">
          <p14:sldIdLst>
            <p14:sldId id="11482"/>
            <p14:sldId id="11330"/>
          </p14:sldIdLst>
        </p14:section>
        <p14:section name="Maintainability" id="{E6B43949-8A3C-084E-A0B9-37E6D4E40B4B}">
          <p14:sldIdLst>
            <p14:sldId id="1988"/>
            <p14:sldId id="2016"/>
            <p14:sldId id="1824"/>
            <p14:sldId id="11430"/>
            <p14:sldId id="11483"/>
            <p14:sldId id="11484"/>
          </p14:sldIdLst>
        </p14:section>
        <p14:section name="Architecture Quality" id="{BBE5D966-65D3-0247-846C-E3C2E3364341}">
          <p14:sldIdLst>
            <p14:sldId id="11481"/>
            <p14:sldId id="11485"/>
            <p14:sldId id="11486"/>
          </p14:sldIdLst>
        </p14:section>
        <p14:section name="Open Source Health" id="{304C7872-545A-A54B-B7F2-E55D10D25BD1}">
          <p14:sldIdLst>
            <p14:sldId id="218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6763"/>
  </p:normalViewPr>
  <p:slideViewPr>
    <p:cSldViewPr snapToGrid="0" snapToObjects="1" showGuides="1">
      <p:cViewPr varScale="1">
        <p:scale>
          <a:sx n="76" d="100"/>
          <a:sy n="76" d="100"/>
        </p:scale>
        <p:origin x="216" y="171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Integrationtest-kafka</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t>Integrationtest-kafka</a:t>
                    </a:r>
                  </a:p>
                </c:rich>
              </c:tx>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43.0</c:v>
                </c:pt>
              </c:numCache>
            </c:numRef>
          </c:xVal>
          <c:yVal>
            <c:numRef>
              <c:f>Sheet1!$B$2:$B$2</c:f>
              <c:numCache>
                <c:formatCode>General</c:formatCode>
                <c:ptCount val="1"/>
                <c:pt idx="0">
                  <c:v>2.6396228517578364</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Sheet1!$A$2:$A$3</c:f>
              <c:strCache>
                <c:ptCount val="2"/>
                <c:pt idx="0">
                  <c:v>Java</c:v>
                </c:pt>
                <c:pt idx="1">
                  <c:v>Python</c:v>
                </c:pt>
              </c:strCache>
            </c:strRef>
          </c:cat>
          <c:val>
            <c:numRef>
              <c:f>Sheet1!$B$2:$B$3</c:f>
              <c:numCache>
                <c:formatCode>General</c:formatCode>
                <c:ptCount val="2"/>
                <c:pt idx="0">
                  <c:v>0.997283943415205</c:v>
                </c:pt>
                <c:pt idx="1">
                  <c:v>0.002716056584794975</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3C8842"/>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rgbClr val="3C884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Java</c:v>
                </c:pt>
                <c:pt idx="1">
                  <c:v>Python</c:v>
                </c:pt>
              </c:strCache>
            </c:strRef>
          </c:cat>
          <c:val>
            <c:numRef>
              <c:f>Sheet1!$B$2:$B$3</c:f>
              <c:numCache>
                <c:formatCode>General</c:formatCode>
                <c:ptCount val="2"/>
                <c:pt idx="0">
                  <c:v>0.997283943415205</c:v>
                </c:pt>
                <c:pt idx="1">
                  <c:v>0.002716056584794975</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1</c:v>
                </c:pt>
                <c:pt idx="1">
                  <c:v>0</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Legal risk</c:v>
                </c:pt>
              </c:strCache>
            </c:strRef>
          </c:cat>
          <c:val>
            <c:numRef>
              <c:f>Sheet1!$C$2:$C$3</c:f>
              <c:numCache>
                <c:formatCode>General</c:formatCode>
                <c:ptCount val="2"/>
                <c:pt idx="0">
                  <c:v>0</c:v>
                </c:pt>
                <c:pt idx="1">
                  <c:v>0</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Legal risk</c:v>
                </c:pt>
              </c:strCache>
            </c:strRef>
          </c:cat>
          <c:val>
            <c:numRef>
              <c:f>Sheet1!$D$2:$D$3</c:f>
              <c:numCache>
                <c:formatCode>General</c:formatCode>
                <c:ptCount val="2"/>
                <c:pt idx="0">
                  <c:v>0</c:v>
                </c:pt>
                <c:pt idx="1">
                  <c:v>0</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0</c:v>
                </c:pt>
                <c:pt idx="1">
                  <c:v>1</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6"/>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0</c:v>
                </c:pt>
                <c:pt idx="2">
                  <c:v>0</c:v>
                </c:pt>
                <c:pt idx="3">
                  <c:v>9</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0</c:v>
                </c:pt>
                <c:pt idx="1">
                  <c:v>0</c:v>
                </c:pt>
                <c:pt idx="2">
                  <c:v>0</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0</c:v>
                </c:pt>
                <c:pt idx="1">
                  <c:v>0</c:v>
                </c:pt>
                <c:pt idx="2">
                  <c:v>0</c:v>
                </c:pt>
                <c:pt idx="3">
                  <c:v>18</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6</c:v>
                </c:pt>
                <c:pt idx="1">
                  <c:v>0</c:v>
                </c:pt>
                <c:pt idx="2">
                  <c:v>0</c:v>
                </c:pt>
                <c:pt idx="3">
                  <c:v>8</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6"/>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5/19/26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53165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br>
              <a:rPr lang="nl-NL" dirty="0"/>
            </a:br>
            <a:r>
              <a:rPr lang="nl-NL" dirty="0" err="1"/>
              <a:t>for</a:t>
            </a:r>
            <a:r>
              <a:rPr lang="nl-NL" dirty="0"/>
              <a:t> CUSTOMER_NAME</a:t>
            </a:r>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
        <p:nvSpPr>
          <p:cNvPr id="7" name="Footer Placeholder 5">
            <a:extLst>
              <a:ext uri="{FF2B5EF4-FFF2-40B4-BE49-F238E27FC236}">
                <a16:creationId xmlns:a16="http://schemas.microsoft.com/office/drawing/2014/main" id="{1F6B2F43-D7A6-D9F8-CAD8-6FEC12BFD03A}"/>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a:t>Generated with Sigrid</a:t>
            </a:r>
            <a:br>
              <a:rPr lang="nl-NL"/>
            </a:br>
            <a:r>
              <a:rPr lang="nl-NL"/>
              <a:t>for CUSTOMER_NAME</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Footer Placeholder 5">
            <a:extLst>
              <a:ext uri="{FF2B5EF4-FFF2-40B4-BE49-F238E27FC236}">
                <a16:creationId xmlns:a16="http://schemas.microsoft.com/office/drawing/2014/main" id="{CB5DF773-C034-71B2-8B60-5119D86047DE}"/>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br>
              <a:rPr lang="nl-NL" dirty="0"/>
            </a:br>
            <a:r>
              <a:rPr lang="nl-NL" dirty="0" err="1"/>
              <a:t>for</a:t>
            </a:r>
            <a:r>
              <a:rPr lang="nl-NL" dirty="0"/>
              <a:t> CUSTOMER_NAME</a:t>
            </a:r>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
        <p:nvSpPr>
          <p:cNvPr id="6" name="Footer Placeholder 5">
            <a:extLst>
              <a:ext uri="{FF2B5EF4-FFF2-40B4-BE49-F238E27FC236}">
                <a16:creationId xmlns:a16="http://schemas.microsoft.com/office/drawing/2014/main" id="{6CEAF205-FFFA-6ED7-9061-5B4D60AD539E}"/>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br>
              <a:rPr lang="nl-NL" dirty="0"/>
            </a:br>
            <a:r>
              <a:rPr lang="nl-NL" dirty="0" err="1"/>
              <a:t>for</a:t>
            </a:r>
            <a:r>
              <a:rPr lang="nl-NL" dirty="0"/>
              <a:t> CUSTOMER_NAME</a:t>
            </a: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Footer Placeholder 5">
            <a:extLst>
              <a:ext uri="{FF2B5EF4-FFF2-40B4-BE49-F238E27FC236}">
                <a16:creationId xmlns:a16="http://schemas.microsoft.com/office/drawing/2014/main" id="{39856B4B-2510-25E2-394B-3C52A618F80D}"/>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br>
              <a:rPr lang="nl-NL" dirty="0"/>
            </a:br>
            <a:r>
              <a:rPr lang="nl-NL" dirty="0" err="1"/>
              <a:t>for</a:t>
            </a:r>
            <a:r>
              <a:rPr lang="nl-NL" dirty="0"/>
              <a:t> CUSTOMER_NAME</a:t>
            </a:r>
          </a:p>
        </p:txBody>
      </p:sp>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Footer Placeholder 5">
            <a:extLst>
              <a:ext uri="{FF2B5EF4-FFF2-40B4-BE49-F238E27FC236}">
                <a16:creationId xmlns:a16="http://schemas.microsoft.com/office/drawing/2014/main" id="{D4520EC1-637F-0CE0-12BF-1C2DF620F9EF}"/>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br>
              <a:rPr lang="nl-NL" dirty="0"/>
            </a:br>
            <a:r>
              <a:rPr lang="nl-NL" dirty="0" err="1"/>
              <a:t>for</a:t>
            </a:r>
            <a:r>
              <a:rPr lang="nl-NL" dirty="0"/>
              <a:t> CUSTOMER_NAME</a:t>
            </a:r>
          </a:p>
        </p:txBody>
      </p:sp>
    </p:spTree>
    <p:extLst>
      <p:ext uri="{BB962C8B-B14F-4D97-AF65-F5344CB8AC3E}">
        <p14:creationId xmlns:p14="http://schemas.microsoft.com/office/powerpoint/2010/main" val="2092596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2.xml"/><Relationship Id="rId3" Type="http://schemas.openxmlformats.org/officeDocument/2006/relationships/image" Target="../media/image9.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br>
              <a:rPr lang="nl-NL" dirty="0"/>
            </a:br>
            <a:r>
              <a:rPr lang="nl-NL" dirty="0" err="1"/>
              <a:t>for</a:t>
            </a:r>
            <a:r>
              <a:rPr lang="nl-NL" dirty="0"/>
              <a:t> CUSTOMER_NAME</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7"/>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
        <p:nvSpPr>
          <p:cNvPr id="91" name="Footer Placeholder 5">
            <a:extLst>
              <a:ext uri="{FF2B5EF4-FFF2-40B4-BE49-F238E27FC236}">
                <a16:creationId xmlns:a16="http://schemas.microsoft.com/office/drawing/2014/main" id="{0AFB5E79-46BA-CFF3-8602-D6B1591BDF93}"/>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br>
              <a:rPr lang="nl-NL" dirty="0"/>
            </a:br>
            <a:r>
              <a:rPr lang="nl-NL" dirty="0" err="1"/>
              <a:t>for</a:t>
            </a:r>
            <a:r>
              <a:rPr lang="nl-NL" dirty="0"/>
              <a:t> CUSTOMER_NAME</a:t>
            </a:r>
          </a:p>
        </p:txBody>
      </p:sp>
    </p:spTree>
    <p:extLst>
      <p:ext uri="{BB962C8B-B14F-4D97-AF65-F5344CB8AC3E}">
        <p14:creationId xmlns:p14="http://schemas.microsoft.com/office/powerpoint/2010/main" val="2669817532"/>
      </p:ext>
    </p:extLst>
  </p:cSld>
  <p:clrMap bg1="lt1" tx1="dk1" bg2="lt2" tx2="dk2" accent1="accent1" accent2="accent2" accent3="accent3" accent4="accent4" accent5="accent5" accent6="accent6" hlink="hlink" folHlink="folHlink"/>
  <p:sldLayoutIdLst>
    <p:sldLayoutId id="2147483799"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svg"/><Relationship Id="rId3" Type="http://schemas.openxmlformats.org/officeDocument/2006/relationships/image" Target="../media/image1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emf"/><Relationship Id="rId3" Type="http://schemas.openxmlformats.org/officeDocument/2006/relationships/image" Target="../media/image15.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7.tiff"/><Relationship Id="rId4" Type="http://schemas.openxmlformats.org/officeDocument/2006/relationships/chart" Target="../charts/chart1.xml"/><Relationship Id="rId5" Type="http://schemas.openxmlformats.org/officeDocument/2006/relationships/image" Target="../media/image18.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svg"/><Relationship Id="rId3" Type="http://schemas.openxmlformats.org/officeDocument/2006/relationships/image" Target="../media/image2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5.sv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svg"/><Relationship Id="rId3" Type="http://schemas.openxmlformats.org/officeDocument/2006/relationships/image" Target="../media/image11.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US" noProof="0" dirty="0" err="1"/>
              <a:t>Reportgeneratordemo – Integrationtest-kafka</a:t>
            </a:r>
            <a:endParaRPr lang="en-US" noProof="0" dirty="0"/>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US" noProof="0" dirty="0"/>
              <a:t>Sigrid System Report</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en-US" noProof="0" dirty="0"/>
              <a:t>Confidential</a:t>
            </a:r>
          </a:p>
        </p:txBody>
      </p:sp>
      <p:sp>
        <p:nvSpPr>
          <p:cNvPr id="5" name="Tijdelijke aanduiding voor tekst 4">
            <a:extLst>
              <a:ext uri="{FF2B5EF4-FFF2-40B4-BE49-F238E27FC236}">
                <a16:creationId xmlns:a16="http://schemas.microsoft.com/office/drawing/2014/main" id="{96608443-E271-3AA0-6885-D7332E922BEC}"/>
              </a:ext>
            </a:extLst>
          </p:cNvPr>
          <p:cNvSpPr>
            <a:spLocks noGrp="1"/>
          </p:cNvSpPr>
          <p:nvPr>
            <p:ph type="body" sz="quarter" idx="16"/>
          </p:nvPr>
        </p:nvSpPr>
        <p:spPr/>
        <p:txBody>
          <a:bodyPr/>
          <a:lstStyle/>
          <a:p>
            <a:r>
              <a:rPr lang="en-US" noProof="0" dirty="0" err="1"/>
              <a:t>15 March 2026</a:t>
            </a:r>
            <a:endParaRPr lang="en-US" noProof="0" dirty="0"/>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3"/>
          </p:nvPr>
        </p:nvSpPr>
        <p:spPr>
          <a:xfrm>
            <a:off x="849600" y="6462000"/>
            <a:ext cx="1085851" cy="231923"/>
          </a:xfrm>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15"/>
          </p:nvPr>
        </p:nvSpPr>
        <p:spPr/>
        <p:txBody>
          <a:bodyPr/>
          <a:lstStyle/>
          <a:p>
            <a:fld id="{E242BD21-9B61-2246-BCB1-4BE5E1BEBE1C}" type="slidenum">
              <a:rPr lang="en-US" noProof="0" smtClean="0"/>
              <a:pPr/>
              <a:t>2</a:t>
            </a:fld>
            <a:endParaRPr lang="en-US" noProof="0" dirty="0"/>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3750390"/>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FF5BD665-CAB7-E865-0251-67BCDB5AE518}"/>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17B7A7D5-B584-1F9B-B4CC-9B65AD7A8E8D}"/>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0EF87031-3EF5-F01F-D64D-85C7CFBA18AE}"/>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26" name="Afgeronde rechthoek 27">
            <a:extLst>
              <a:ext uri="{FF2B5EF4-FFF2-40B4-BE49-F238E27FC236}">
                <a16:creationId xmlns:a16="http://schemas.microsoft.com/office/drawing/2014/main" id="{11022F4E-7F91-B0CF-1E9A-F01F9CA23077}"/>
              </a:ext>
            </a:extLst>
          </p:cNvPr>
          <p:cNvSpPr/>
          <p:nvPr/>
        </p:nvSpPr>
        <p:spPr>
          <a:xfrm>
            <a:off x="4467599" y="761238"/>
            <a:ext cx="7567201" cy="724260"/>
          </a:xfrm>
          <a:prstGeom prst="roundRect">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C30E21-03D0-E176-48CC-E0A928A30286}"/>
              </a:ext>
            </a:extLst>
          </p:cNvPr>
          <p:cNvSpPr>
            <a:spLocks noGrp="1"/>
          </p:cNvSpPr>
          <p:nvPr>
            <p:ph type="body" sz="quarter" idx="12"/>
          </p:nvPr>
        </p:nvSpPr>
        <p:spPr>
          <a:xfrm>
            <a:off x="381600" y="129568"/>
            <a:ext cx="2169037" cy="228209"/>
          </a:xfrm>
        </p:spPr>
        <p:txBody>
          <a:bodyPr/>
          <a:lstStyle/>
          <a:p>
            <a:r>
              <a:rPr lang="en-GB" dirty="0"/>
              <a:t>System Metadata Overview</a:t>
            </a:r>
          </a:p>
        </p:txBody>
      </p:sp>
      <p:sp>
        <p:nvSpPr>
          <p:cNvPr id="5" name="Slide Number Placeholder 4">
            <a:extLst>
              <a:ext uri="{FF2B5EF4-FFF2-40B4-BE49-F238E27FC236}">
                <a16:creationId xmlns:a16="http://schemas.microsoft.com/office/drawing/2014/main" id="{CA8F2885-3B34-E982-B629-94D557507614}"/>
              </a:ext>
            </a:extLst>
          </p:cNvPr>
          <p:cNvSpPr>
            <a:spLocks noGrp="1"/>
          </p:cNvSpPr>
          <p:nvPr>
            <p:ph type="sldNum" sz="quarter" idx="15"/>
          </p:nvPr>
        </p:nvSpPr>
        <p:spPr/>
        <p:txBody>
          <a:bodyPr/>
          <a:lstStyle/>
          <a:p>
            <a:fld id="{E242BD21-9B61-2246-BCB1-4BE5E1BEBE1C}" type="slidenum">
              <a:rPr lang="nl-NL" smtClean="0"/>
              <a:pPr/>
              <a:t>3</a:t>
            </a:fld>
            <a:endParaRPr lang="nl-NL"/>
          </a:p>
        </p:txBody>
      </p:sp>
      <p:sp>
        <p:nvSpPr>
          <p:cNvPr id="6" name="Title 5">
            <a:extLst>
              <a:ext uri="{FF2B5EF4-FFF2-40B4-BE49-F238E27FC236}">
                <a16:creationId xmlns:a16="http://schemas.microsoft.com/office/drawing/2014/main" id="{2023B51F-B4CF-A232-65A9-E0C75114AED6}"/>
              </a:ext>
            </a:extLst>
          </p:cNvPr>
          <p:cNvSpPr>
            <a:spLocks noGrp="1"/>
          </p:cNvSpPr>
          <p:nvPr>
            <p:ph type="title"/>
          </p:nvPr>
        </p:nvSpPr>
        <p:spPr>
          <a:xfrm>
            <a:off x="154800" y="594000"/>
            <a:ext cx="11880000" cy="402291"/>
          </a:xfrm>
        </p:spPr>
        <p:txBody>
          <a:bodyPr/>
          <a:lstStyle/>
          <a:p>
            <a:r>
              <a:rPr lang="en-US" dirty="0">
                <a:latin typeface="Noir Pro Medium"/>
              </a:rPr>
              <a:t>Metadata overview for system Integrationtest-kafka</a:t>
            </a:r>
            <a:endParaRPr lang="en-GB" dirty="0"/>
          </a:p>
        </p:txBody>
      </p:sp>
      <p:graphicFrame>
        <p:nvGraphicFramePr>
          <p:cNvPr id="8" name="Table 10">
            <a:extLst>
              <a:ext uri="{FF2B5EF4-FFF2-40B4-BE49-F238E27FC236}">
                <a16:creationId xmlns:a16="http://schemas.microsoft.com/office/drawing/2014/main" id="{09A0B31C-AF41-29A5-D80B-73D37328CC75}"/>
              </a:ext>
            </a:extLst>
          </p:cNvPr>
          <p:cNvGraphicFramePr>
            <a:graphicFrameLocks noGrp="1"/>
          </p:cNvGraphicFramePr>
          <p:nvPr>
            <p:extLst>
              <p:ext uri="{D42A27DB-BD31-4B8C-83A1-F6EECF244321}">
                <p14:modId xmlns:p14="http://schemas.microsoft.com/office/powerpoint/2010/main" val="531613492"/>
              </p:ext>
            </p:extLst>
          </p:nvPr>
        </p:nvGraphicFramePr>
        <p:xfrm>
          <a:off x="582448" y="1509955"/>
          <a:ext cx="5222328" cy="3305539"/>
        </p:xfrm>
        <a:graphic>
          <a:graphicData uri="http://schemas.openxmlformats.org/drawingml/2006/table">
            <a:tbl>
              <a:tblPr firstRow="1" bandRow="1">
                <a:effectLst/>
                <a:tableStyleId>{F2DE63D5-997A-4646-A377-4702673A728D}</a:tableStyleId>
              </a:tblPr>
              <a:tblGrid>
                <a:gridCol w="2757100">
                  <a:extLst>
                    <a:ext uri="{9D8B030D-6E8A-4147-A177-3AD203B41FA5}">
                      <a16:colId xmlns:a16="http://schemas.microsoft.com/office/drawing/2014/main" val="20000"/>
                    </a:ext>
                  </a:extLst>
                </a:gridCol>
                <a:gridCol w="2465228">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dirty="0">
                          <a:solidFill>
                            <a:schemeClr val="bg1"/>
                          </a:solidFill>
                          <a:latin typeface="+mn-lt"/>
                        </a:rPr>
                        <a:t>General information</a:t>
                      </a:r>
                      <a:endParaRPr lang="nl-NL"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Full System name</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Display name</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Division</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Team</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Supplier</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Remark</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Status Active</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Yes</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Excluded from Dashboards</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No</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bl>
          </a:graphicData>
        </a:graphic>
      </p:graphicFrame>
      <p:graphicFrame>
        <p:nvGraphicFramePr>
          <p:cNvPr id="23" name="Table 10">
            <a:extLst>
              <a:ext uri="{FF2B5EF4-FFF2-40B4-BE49-F238E27FC236}">
                <a16:creationId xmlns:a16="http://schemas.microsoft.com/office/drawing/2014/main" id="{B0FB2279-02D8-F84F-22E7-354A13384788}"/>
              </a:ext>
            </a:extLst>
          </p:cNvPr>
          <p:cNvGraphicFramePr>
            <a:graphicFrameLocks noGrp="1"/>
          </p:cNvGraphicFramePr>
          <p:nvPr>
            <p:extLst>
              <p:ext uri="{D42A27DB-BD31-4B8C-83A1-F6EECF244321}">
                <p14:modId xmlns:p14="http://schemas.microsoft.com/office/powerpoint/2010/main" val="2749644355"/>
              </p:ext>
            </p:extLst>
          </p:nvPr>
        </p:nvGraphicFramePr>
        <p:xfrm>
          <a:off x="6387224" y="1505382"/>
          <a:ext cx="5222328" cy="3899554"/>
        </p:xfrm>
        <a:graphic>
          <a:graphicData uri="http://schemas.openxmlformats.org/drawingml/2006/table">
            <a:tbl>
              <a:tblPr firstRow="1" bandRow="1">
                <a:effectLst/>
                <a:tableStyleId>{F2DE63D5-997A-4646-A377-4702673A728D}</a:tableStyleId>
              </a:tblPr>
              <a:tblGrid>
                <a:gridCol w="2726959">
                  <a:extLst>
                    <a:ext uri="{9D8B030D-6E8A-4147-A177-3AD203B41FA5}">
                      <a16:colId xmlns:a16="http://schemas.microsoft.com/office/drawing/2014/main" val="20000"/>
                    </a:ext>
                  </a:extLst>
                </a:gridCol>
                <a:gridCol w="2495369">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dirty="0">
                          <a:solidFill>
                            <a:schemeClr val="bg1"/>
                          </a:solidFill>
                          <a:latin typeface="+mn-lt"/>
                        </a:rPr>
                        <a:t>Metadata</a:t>
                      </a:r>
                      <a:endParaRPr lang="nl-NL"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In production since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Business criticality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Lifecycle phase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Target industry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dirty="0">
                          <a:solidFill>
                            <a:schemeClr val="tx2"/>
                          </a:solidFill>
                          <a:effectLst/>
                          <a:latin typeface="Calibri Regular"/>
                        </a:rPr>
                        <a:t>Deployment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dirty="0">
                          <a:solidFill>
                            <a:schemeClr val="tx2"/>
                          </a:solidFill>
                          <a:effectLst/>
                          <a:latin typeface="Calibri Regular"/>
                        </a:rPr>
                        <a:t>Application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dirty="0">
                          <a:solidFill>
                            <a:schemeClr val="tx2"/>
                          </a:solidFill>
                          <a:effectLst/>
                          <a:latin typeface="Calibri Regular"/>
                        </a:rPr>
                        <a:t>Distribution strategy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dirty="0">
                          <a:solidFill>
                            <a:schemeClr val="tx2"/>
                          </a:solidFill>
                          <a:effectLst/>
                          <a:latin typeface="Calibri Regular"/>
                        </a:rPr>
                        <a:t>External ID</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r h="336405">
                <a:tc>
                  <a:txBody>
                    <a:bodyPr/>
                    <a:lstStyle/>
                    <a:p>
                      <a:pPr algn="l" fontAlgn="b"/>
                      <a:r>
                        <a:rPr lang="en-US" sz="1400" b="1" i="0" u="none" strike="noStrike" dirty="0">
                          <a:solidFill>
                            <a:schemeClr val="tx2"/>
                          </a:solidFill>
                          <a:effectLst/>
                          <a:latin typeface="Calibri Regular"/>
                        </a:rPr>
                        <a:t>External 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4197969"/>
                  </a:ext>
                </a:extLst>
              </a:tr>
            </a:tbl>
          </a:graphicData>
        </a:graphic>
      </p:graphicFrame>
      <p:sp>
        <p:nvSpPr>
          <p:cNvPr id="7" name="Footer Placeholder 5">
            <a:extLst>
              <a:ext uri="{FF2B5EF4-FFF2-40B4-BE49-F238E27FC236}">
                <a16:creationId xmlns:a16="http://schemas.microsoft.com/office/drawing/2014/main" id="{D668F418-C9C8-DC1B-60B7-39B80C74F1EA}"/>
              </a:ext>
            </a:extLst>
          </p:cNvPr>
          <p:cNvSpPr>
            <a:spLocks noGrp="1"/>
          </p:cNvSpPr>
          <p:nvPr>
            <p:ph type="ftr" sz="quarter" idx="3"/>
          </p:nvPr>
        </p:nvSpPr>
        <p:spPr>
          <a:xfrm>
            <a:off x="192158" y="6392274"/>
            <a:ext cx="1763922" cy="370422"/>
          </a:xfrm>
        </p:spPr>
        <p:txBody>
          <a:bodyPr/>
          <a:lstStyle/>
          <a:p>
            <a:r>
              <a:rPr lang="nl-NL" dirty="0" err="1"/>
              <a:t>Generated with Sigridfor Reportgeneratordemo</a:t>
            </a:r>
            <a:br>
              <a:rPr lang="nl-NL" dirty="0"/>
            </a:br>
          </a:p>
        </p:txBody>
      </p:sp>
    </p:spTree>
    <p:extLst>
      <p:ext uri="{BB962C8B-B14F-4D97-AF65-F5344CB8AC3E}">
        <p14:creationId xmlns:p14="http://schemas.microsoft.com/office/powerpoint/2010/main" val="287575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a:xfrm>
            <a:off x="381600" y="129600"/>
            <a:ext cx="1663129" cy="228145"/>
          </a:xfrm>
        </p:spPr>
        <p:txBody>
          <a:bodyPr/>
          <a:lstStyle/>
          <a:p>
            <a:r>
              <a:rPr lang="en-US" noProof="0" dirty="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a:xfrm>
            <a:off x="154800" y="594000"/>
            <a:ext cx="11880000" cy="402291"/>
          </a:xfrm>
        </p:spPr>
        <p:txBody>
          <a:bodyPr/>
          <a:lstStyle/>
          <a:p>
            <a:r>
              <a:rPr lang="en-US" noProof="0" dirty="0">
                <a:latin typeface="Noir Pro Medium"/>
              </a:rPr>
              <a:t>System "</a:t>
            </a:r>
            <a:r>
              <a:rPr lang="en-US" noProof="0" dirty="0" err="1"/>
              <a:t>Integrationtest-kafka</a:t>
            </a:r>
            <a:r>
              <a:rPr lang="en-US" noProof="0" dirty="0">
                <a:latin typeface="Noir Pro Medium"/>
              </a:rPr>
              <a:t>" technical quality: management summary</a:t>
            </a:r>
          </a:p>
        </p:txBody>
      </p:sp>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294967295"/>
          </p:nvPr>
        </p:nvSpPr>
        <p:spPr>
          <a:xfrm>
            <a:off x="11941175" y="6550025"/>
            <a:ext cx="250825" cy="236538"/>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4</a:t>
            </a:fld>
            <a:endParaRPr lang="en-US" noProof="0" dirty="0"/>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Technology choice</a:t>
            </a:r>
            <a:endParaRPr lang="en-US" sz="1600" noProof="0" dirty="0">
              <a:solidFill>
                <a:schemeClr val="accent2"/>
              </a:solidFill>
            </a:endParaRP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Open source health</a:t>
            </a:r>
            <a:endParaRPr lang="en-US" sz="1600" noProof="0" dirty="0">
              <a:solidFill>
                <a:schemeClr val="accent2"/>
              </a:solidFill>
            </a:endParaRP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dirty="0">
                <a:ea typeface="+mn-lt"/>
                <a:cs typeface="+mn-lt"/>
              </a:rPr>
              <a:t>The system scores at the market average with </a:t>
            </a:r>
            <a:r>
              <a:rPr lang="en-US" sz="1400" b="1" noProof="0" dirty="0" err="1">
                <a:solidFill>
                  <a:schemeClr val="accent2"/>
                </a:solidFill>
              </a:rPr>
              <a:t>2.6 stars (</a:t>
            </a:r>
            <a:r>
              <a:rPr lang="en-US" sz="1400" b="1" noProof="0" dirty="0" err="1">
                <a:solidFill>
                  <a:schemeClr val="accent2"/>
                </a:solidFill>
                <a:latin typeface="Calibri" panose="020F0502020204030204" pitchFamily="34" charset="0"/>
                <a:cs typeface="Calibri" panose="020F0502020204030204" pitchFamily="34" charset="0"/>
              </a:rPr>
              <a:t>★★★☆☆</a:t>
            </a:r>
            <a:r>
              <a:rPr lang="en-US" sz="1400" b="1" noProof="0" dirty="0">
                <a:solidFill>
                  <a:schemeClr val="accent2"/>
                </a:solidFill>
              </a:rPr>
              <a:t>) </a:t>
            </a:r>
            <a:r>
              <a:rPr lang="en-US" sz="1400" noProof="0" dirty="0">
                <a:ea typeface="+mn-lt"/>
                <a:cs typeface="+mn-lt"/>
              </a:rPr>
              <a:t>on the SIG maintainability model. This indicates average maintenance costs and time to market for functional changes. The system shows high risk in its tightly coupled modules</a:t>
            </a:r>
            <a:endParaRPr lang="en-US" sz="1400" noProof="0" dirty="0">
              <a:ea typeface="+mn-lt"/>
              <a:cs typeface="+mn-lt"/>
            </a:endParaRP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dirty="0"/>
              <a:t>The system is 43.0 PY (386,459 LOC) large. The system is built using common and modern technologies. Its main technology is Java.</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dirty="0"/>
              <a:t>The system has a test/code ratio of 157%. This indicates that an extremely mature automated testing suite is in place, that will likely catch breaking changes at an early stage. This increases developer velocity and reduces bugs in production.</a:t>
            </a:r>
            <a:endParaRPr lang="en-US" sz="1400" noProof="0" dirty="0">
              <a:ea typeface="+mn-lt"/>
              <a:cs typeface="+mn-lt"/>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dirty="0"/>
              <a:t>The system rates </a:t>
            </a:r>
            <a:r>
              <a:rPr lang="en-US" sz="1400" b="1" noProof="0" dirty="0" err="1">
                <a:solidFill>
                  <a:schemeClr val="accent2"/>
                </a:solidFill>
                <a:ea typeface="+mn-lt"/>
                <a:cs typeface="+mn-lt"/>
              </a:rPr>
              <a:t>2.6 stars (★★★☆☆)</a:t>
            </a:r>
            <a:r>
              <a:rPr lang="en-US" sz="1400" b="1" noProof="0" dirty="0"/>
              <a:t> </a:t>
            </a:r>
            <a:r>
              <a:rPr lang="en-US" sz="1400" noProof="0" dirty="0"/>
              <a:t>on the SIG Architecture Quality model, at the market average. The system's low score in Component Coupling constrains architecture, constraining evolution and imposing high-impact changes, impeding system adaptability.</a:t>
            </a:r>
            <a:endParaRPr lang="en-US" sz="1400" noProof="0" dirty="0"/>
          </a:p>
          <a:p>
            <a:endParaRPr lang="en-US" sz="1400" noProof="0" dirty="0">
              <a:ea typeface="+mn-lt"/>
              <a:cs typeface="+mn-lt"/>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dirty="0" err="1"/>
              <a:t>This system has 0 medium or higher risk vulnerable libraries and 1 licenses with potential legal risks that should be investigated.</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3" name="Footer Placeholder 5">
            <a:extLst>
              <a:ext uri="{FF2B5EF4-FFF2-40B4-BE49-F238E27FC236}">
                <a16:creationId xmlns:a16="http://schemas.microsoft.com/office/drawing/2014/main" id="{56D11E59-CE75-1FCB-882A-D95DE0C0E55D}"/>
              </a:ext>
            </a:extLst>
          </p:cNvPr>
          <p:cNvSpPr>
            <a:spLocks noGrp="1"/>
          </p:cNvSpPr>
          <p:nvPr>
            <p:ph type="ftr" sz="quarter" idx="3"/>
          </p:nvPr>
        </p:nvSpPr>
        <p:spPr>
          <a:xfrm>
            <a:off x="192158" y="6392274"/>
            <a:ext cx="1763922" cy="370422"/>
          </a:xfrm>
        </p:spPr>
        <p:txBody>
          <a:bodyPr/>
          <a:lstStyle/>
          <a:p>
            <a:r>
              <a:rPr lang="nl-NL" dirty="0" err="1"/>
              <a:t>Generated with Sigridfor Reportgeneratordemo</a:t>
            </a:r>
            <a:br>
              <a:rPr lang="nl-NL" dirty="0"/>
            </a:br>
          </a:p>
        </p:txBody>
      </p:sp>
    </p:spTree>
    <p:extLst>
      <p:ext uri="{BB962C8B-B14F-4D97-AF65-F5344CB8AC3E}">
        <p14:creationId xmlns:p14="http://schemas.microsoft.com/office/powerpoint/2010/main" val="2209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F9DD-0462-016F-8E23-2DB264387100}"/>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FD8EBEE6-089D-3692-A341-C90A7CEA81EB}"/>
              </a:ext>
            </a:extLst>
          </p:cNvPr>
          <p:cNvSpPr>
            <a:spLocks noGrp="1"/>
          </p:cNvSpPr>
          <p:nvPr>
            <p:ph type="sldNum" sz="quarter" idx="15"/>
          </p:nvPr>
        </p:nvSpPr>
        <p:spPr/>
        <p:txBody>
          <a:bodyPr/>
          <a:lstStyle/>
          <a:p>
            <a:fld id="{E242BD21-9B61-2246-BCB1-4BE5E1BEBE1C}" type="slidenum">
              <a:rPr lang="en-US" noProof="0" smtClean="0"/>
              <a:pPr/>
              <a:t>5</a:t>
            </a:fld>
            <a:endParaRPr lang="en-US" noProof="0" dirty="0"/>
          </a:p>
        </p:txBody>
      </p:sp>
      <p:sp>
        <p:nvSpPr>
          <p:cNvPr id="4" name="Titel 3">
            <a:extLst>
              <a:ext uri="{FF2B5EF4-FFF2-40B4-BE49-F238E27FC236}">
                <a16:creationId xmlns:a16="http://schemas.microsoft.com/office/drawing/2014/main" id="{AE936A79-6AD8-007A-80E2-F8397B01ED8F}"/>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25467FEE-6B64-E34F-E27E-DF526B047085}"/>
              </a:ext>
            </a:extLst>
          </p:cNvPr>
          <p:cNvSpPr>
            <a:spLocks noGrp="1"/>
          </p:cNvSpPr>
          <p:nvPr>
            <p:ph sz="quarter" idx="16"/>
          </p:nvPr>
        </p:nvSpPr>
        <p:spPr>
          <a:xfrm>
            <a:off x="4467600" y="738000"/>
            <a:ext cx="7092000" cy="3658057"/>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3A2FF08D-E383-A4D7-D0D5-04C5B7D9BE55}"/>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88C42531-C38E-90CC-55B2-1CA03B964DCC}"/>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21C615A6-2657-F686-ACB4-31C3780AC53F}"/>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9E8041A3-4CF8-83F0-839C-439C8A2903BA}"/>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1E4A6A55-D491-B64E-8117-725CFD0054C7}"/>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9FBD725A-A3B4-2FE9-5308-553FDD9CC914}"/>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24F69592-6EC4-3A3F-03CA-A0EB53B047AF}"/>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37D4889B-9E40-C9DF-1B1F-087D453F8571}"/>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2104FF65-775F-390F-A413-19E80C39A13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79D70F5D-0B0B-6234-A662-2C0A1687FCA9}"/>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BDEAA53F-F465-CAD1-D039-210FAB636309}"/>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34" name="Afgeronde rechthoek 33">
            <a:extLst>
              <a:ext uri="{FF2B5EF4-FFF2-40B4-BE49-F238E27FC236}">
                <a16:creationId xmlns:a16="http://schemas.microsoft.com/office/drawing/2014/main" id="{1432F4D9-898D-1F7C-1B68-01CBDDFBCED8}"/>
              </a:ext>
            </a:extLst>
          </p:cNvPr>
          <p:cNvSpPr/>
          <p:nvPr/>
        </p:nvSpPr>
        <p:spPr>
          <a:xfrm>
            <a:off x="4454347" y="1472806"/>
            <a:ext cx="7567201" cy="2923251"/>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
        <p:nvSpPr>
          <p:cNvPr id="11" name="Footer Placeholder 4">
            <a:extLst>
              <a:ext uri="{FF2B5EF4-FFF2-40B4-BE49-F238E27FC236}">
                <a16:creationId xmlns:a16="http://schemas.microsoft.com/office/drawing/2014/main" id="{0707A884-AC28-2314-C739-5F3DD7BBDDA8}"/>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331429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65" name="Oval 64">
            <a:extLst>
              <a:ext uri="{FF2B5EF4-FFF2-40B4-BE49-F238E27FC236}">
                <a16:creationId xmlns:a16="http://schemas.microsoft.com/office/drawing/2014/main" id="{95C27F98-D0CE-D5B9-C55D-97BBC5A5BFF2}"/>
              </a:ext>
            </a:extLst>
          </p:cNvPr>
          <p:cNvSpPr>
            <a:spLocks/>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2" name="Oval 91">
            <a:extLst>
              <a:ext uri="{FF2B5EF4-FFF2-40B4-BE49-F238E27FC236}">
                <a16:creationId xmlns:a16="http://schemas.microsoft.com/office/drawing/2014/main" id="{B6C70F8F-27F3-4CF3-FECD-439D34C6752D}"/>
              </a:ext>
            </a:extLst>
          </p:cNvPr>
          <p:cNvSpPr>
            <a:spLocks/>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Cost Estimation Model</a:t>
            </a:r>
          </a:p>
        </p:txBody>
      </p:sp>
      <p:sp>
        <p:nvSpPr>
          <p:cNvPr id="63" name="Text Placeholder 62">
            <a:extLst>
              <a:ext uri="{FF2B5EF4-FFF2-40B4-BE49-F238E27FC236}">
                <a16:creationId xmlns:a16="http://schemas.microsoft.com/office/drawing/2014/main" id="{4470666D-AB22-177C-6C7A-D16FF6FB971C}"/>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p:cNvSpPr>
          <p:nvPr>
            <p:ph type="title"/>
          </p:nvPr>
        </p:nvSpPr>
        <p:spPr/>
        <p:txBody>
          <a:bodyPr/>
          <a:lstStyle/>
          <a:p>
            <a:r>
              <a:rPr lang="en-US" noProof="0" dirty="0"/>
              <a:t>Explanation: The Cost Estimation model combines Sigrid analysis results with SIG benchmarks</a:t>
            </a:r>
          </a:p>
        </p:txBody>
      </p:sp>
      <p:sp>
        <p:nvSpPr>
          <p:cNvPr id="8" name="Oval 7">
            <a:extLst>
              <a:ext uri="{FF2B5EF4-FFF2-40B4-BE49-F238E27FC236}">
                <a16:creationId xmlns:a16="http://schemas.microsoft.com/office/drawing/2014/main" id="{29F3FDDD-3858-C838-0AD0-612548D292DE}"/>
              </a:ext>
            </a:extLst>
          </p:cNvPr>
          <p:cNvSpPr>
            <a:spLocks/>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dirty="0">
                <a:solidFill>
                  <a:srgbClr val="FFFFFF"/>
                </a:solidFill>
                <a:latin typeface="Azeret Mono" pitchFamily="2" charset="77"/>
                <a:cs typeface="Azeret Mono" pitchFamily="2" charset="77"/>
              </a:rPr>
              <a:t>The Cost Estimation Model (CEM) enables translating technical analysis results to cost estimations. </a:t>
            </a:r>
            <a:endParaRPr kumimoji="0" lang="en-US" sz="3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most important input for the CEM are the maintainability analysis results. This is mandatory. CEM then combines this with </a:t>
            </a:r>
            <a:r>
              <a:rPr lang="en-US" sz="1400" noProof="0" dirty="0">
                <a:solidFill>
                  <a:srgbClr val="FFFFFF"/>
                </a:solidFill>
                <a:latin typeface="Azeret Mono" pitchFamily="2" charset="77"/>
                <a:cs typeface="Azeret Mono" pitchFamily="2" charset="77"/>
              </a:rPr>
              <a:t>SIG’s benchmarks</a:t>
            </a: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on productivity and maintainability.</a:t>
            </a:r>
            <a:endParaRPr kumimoji="0" lang="en-US" sz="1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Cost estimations form key input for scenario comparison.</a:t>
            </a:r>
          </a:p>
        </p:txBody>
      </p:sp>
      <p:sp>
        <p:nvSpPr>
          <p:cNvPr id="78" name="Arc 77">
            <a:extLst>
              <a:ext uri="{FF2B5EF4-FFF2-40B4-BE49-F238E27FC236}">
                <a16:creationId xmlns:a16="http://schemas.microsoft.com/office/drawing/2014/main" id="{AE202C74-D8C9-84F4-7CCF-66BFEFFF7D22}"/>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900476" y="1505595"/>
            <a:ext cx="403047" cy="343715"/>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p:cNvSpPr>
          <p:nvPr/>
        </p:nvSpPr>
        <p:spPr>
          <a:xfrm>
            <a:off x="3324388" y="3825339"/>
            <a:ext cx="126489"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p:cNvSpPr>
          <p:nvPr/>
        </p:nvSpPr>
        <p:spPr>
          <a:xfrm>
            <a:off x="3467971" y="4563771"/>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p:cNvSpPr>
          <p:nvPr/>
        </p:nvSpPr>
        <p:spPr>
          <a:xfrm>
            <a:off x="3645999" y="4985107"/>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p:cNvSpPr>
          <p:nvPr/>
        </p:nvSpPr>
        <p:spPr>
          <a:xfrm>
            <a:off x="393577" y="2957541"/>
            <a:ext cx="2933901"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Language productivity benchmark</a:t>
            </a:r>
          </a:p>
        </p:txBody>
      </p:sp>
      <p:sp>
        <p:nvSpPr>
          <p:cNvPr id="39" name="Tekstvak 38">
            <a:extLst>
              <a:ext uri="{FF2B5EF4-FFF2-40B4-BE49-F238E27FC236}">
                <a16:creationId xmlns:a16="http://schemas.microsoft.com/office/drawing/2014/main" id="{7E259356-0193-A86A-4CEE-5A1813E29242}"/>
              </a:ext>
            </a:extLst>
          </p:cNvPr>
          <p:cNvSpPr txBox="1">
            <a:spLocks/>
          </p:cNvSpPr>
          <p:nvPr/>
        </p:nvSpPr>
        <p:spPr>
          <a:xfrm>
            <a:off x="225737" y="3691833"/>
            <a:ext cx="3058740"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Maintainability benchmark</a:t>
            </a:r>
          </a:p>
        </p:txBody>
      </p:sp>
      <p:sp>
        <p:nvSpPr>
          <p:cNvPr id="40" name="Tekstvak 39">
            <a:extLst>
              <a:ext uri="{FF2B5EF4-FFF2-40B4-BE49-F238E27FC236}">
                <a16:creationId xmlns:a16="http://schemas.microsoft.com/office/drawing/2014/main" id="{5F0DC96E-F7E0-F74E-E1F1-46E5AC30F48C}"/>
              </a:ext>
            </a:extLst>
          </p:cNvPr>
          <p:cNvSpPr txBox="1">
            <a:spLocks/>
          </p:cNvSpPr>
          <p:nvPr/>
        </p:nvSpPr>
        <p:spPr>
          <a:xfrm>
            <a:off x="942233" y="4426125"/>
            <a:ext cx="2472300"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Software metric results</a:t>
            </a:r>
          </a:p>
        </p:txBody>
      </p:sp>
      <p:sp>
        <p:nvSpPr>
          <p:cNvPr id="41" name="Tekstvak 40">
            <a:extLst>
              <a:ext uri="{FF2B5EF4-FFF2-40B4-BE49-F238E27FC236}">
                <a16:creationId xmlns:a16="http://schemas.microsoft.com/office/drawing/2014/main" id="{F793CE3A-19AA-C87F-F0EE-2C1B9143E48E}"/>
              </a:ext>
            </a:extLst>
          </p:cNvPr>
          <p:cNvSpPr txBox="1">
            <a:spLocks/>
          </p:cNvSpPr>
          <p:nvPr/>
        </p:nvSpPr>
        <p:spPr>
          <a:xfrm>
            <a:off x="2044729" y="4851797"/>
            <a:ext cx="1518514"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Configuration</a:t>
            </a:r>
          </a:p>
        </p:txBody>
      </p:sp>
      <p:sp>
        <p:nvSpPr>
          <p:cNvPr id="6" name="Footer Placeholder 4">
            <a:extLst>
              <a:ext uri="{FF2B5EF4-FFF2-40B4-BE49-F238E27FC236}">
                <a16:creationId xmlns:a16="http://schemas.microsoft.com/office/drawing/2014/main" id="{ABD0BC6B-481D-DD66-696A-A9C254706A06}"/>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837537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655E-F97C-8287-6A0E-D45434C8F92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C04ABE8-C279-D9E6-AC8C-52F1BD5E75F8}"/>
              </a:ext>
            </a:extLst>
          </p:cNvPr>
          <p:cNvSpPr>
            <a:spLocks noGrp="1"/>
          </p:cNvSpPr>
          <p:nvPr>
            <p:ph type="body" sz="quarter" idx="12"/>
          </p:nvPr>
        </p:nvSpPr>
        <p:spPr>
          <a:xfrm>
            <a:off x="381000" y="129609"/>
            <a:ext cx="2674945" cy="228145"/>
          </a:xfrm>
        </p:spPr>
        <p:txBody>
          <a:bodyPr/>
          <a:lstStyle/>
          <a:p>
            <a:r>
              <a:rPr lang="en-US" noProof="0" dirty="0"/>
              <a:t>Key findings – Cost estimation</a:t>
            </a:r>
          </a:p>
        </p:txBody>
      </p:sp>
      <p:sp>
        <p:nvSpPr>
          <p:cNvPr id="8" name="Content Placeholder 9">
            <a:extLst>
              <a:ext uri="{FF2B5EF4-FFF2-40B4-BE49-F238E27FC236}">
                <a16:creationId xmlns:a16="http://schemas.microsoft.com/office/drawing/2014/main" id="{14C925DB-E118-F4E3-AF41-5BD45439B8AD}"/>
              </a:ext>
            </a:extLst>
          </p:cNvPr>
          <p:cNvSpPr>
            <a:spLocks noGrp="1"/>
          </p:cNvSpPr>
          <p:nvPr>
            <p:ph sz="quarter" idx="13"/>
          </p:nvPr>
        </p:nvSpPr>
        <p:spPr>
          <a:xfrm>
            <a:off x="155575" y="1411288"/>
            <a:ext cx="8245902" cy="4841875"/>
          </a:xfrm>
        </p:spPr>
        <p:txBody>
          <a:bodyPr/>
          <a:lstStyle/>
          <a:p>
            <a:pPr marL="285750" indent="-285750">
              <a:buFont typeface="Arial" panose="020B0604020202020204" pitchFamily="34" charset="0"/>
              <a:buChar char="•"/>
            </a:pPr>
            <a:r>
              <a:rPr lang="en-US" noProof="0" dirty="0"/>
              <a:t>The code volume totals 43.0 person years of theoretical rebuild volume.</a:t>
            </a:r>
          </a:p>
          <a:p>
            <a:pPr marL="285750" indent="-285750">
              <a:buFont typeface="Arial" panose="020B0604020202020204" pitchFamily="34" charset="0"/>
              <a:buChar char="•"/>
            </a:pPr>
            <a:r>
              <a:rPr lang="en-US" noProof="0" dirty="0"/>
              <a:t>The average maintainability level is at. For modern systems built in common technologies, at minimum a 4-star rating is recommended to avoid unnecessary maintenance cost.</a:t>
            </a:r>
          </a:p>
          <a:p>
            <a:pPr marL="285750" indent="-285750">
              <a:buFont typeface="Arial" panose="020B0604020202020204" pitchFamily="34" charset="0"/>
              <a:buChar char="•"/>
            </a:pPr>
            <a:r>
              <a:rPr lang="en-US" noProof="0" dirty="0" err="1"/>
              <a:t>6.5 FTE of development effort is recommended for maintenance alone.</a:t>
            </a:r>
          </a:p>
          <a:p>
            <a:pPr marL="285750" indent="-285750">
              <a:buFont typeface="Arial" panose="020B0604020202020204" pitchFamily="34" charset="0"/>
              <a:buChar char="•"/>
            </a:pPr>
            <a:r>
              <a:rPr lang="en-US" noProof="0" dirty="0"/>
              <a:t>Approximately 18.2 person years is required to renovate the system towards the recommended 4-star level</a:t>
            </a:r>
          </a:p>
        </p:txBody>
      </p:sp>
      <p:sp>
        <p:nvSpPr>
          <p:cNvPr id="5" name="Slide Number Placeholder 4">
            <a:extLst>
              <a:ext uri="{FF2B5EF4-FFF2-40B4-BE49-F238E27FC236}">
                <a16:creationId xmlns:a16="http://schemas.microsoft.com/office/drawing/2014/main" id="{B1B92D6C-0D69-FCB1-5EE4-95B2A83103D0}"/>
              </a:ext>
            </a:extLst>
          </p:cNvPr>
          <p:cNvSpPr>
            <a:spLocks noGrp="1"/>
          </p:cNvSpPr>
          <p:nvPr>
            <p:ph type="sldNum" sz="quarter" idx="15"/>
          </p:nvPr>
        </p:nvSpPr>
        <p:spPr/>
        <p:txBody>
          <a:bodyPr/>
          <a:lstStyle/>
          <a:p>
            <a:fld id="{E242BD21-9B61-2246-BCB1-4BE5E1BEBE1C}" type="slidenum">
              <a:rPr lang="en-US" noProof="0" smtClean="0"/>
              <a:pPr/>
              <a:t>7</a:t>
            </a:fld>
            <a:endParaRPr lang="en-US" noProof="0" dirty="0"/>
          </a:p>
        </p:txBody>
      </p:sp>
      <p:sp>
        <p:nvSpPr>
          <p:cNvPr id="4" name="Title 3">
            <a:extLst>
              <a:ext uri="{FF2B5EF4-FFF2-40B4-BE49-F238E27FC236}">
                <a16:creationId xmlns:a16="http://schemas.microsoft.com/office/drawing/2014/main" id="{29657FF3-6619-08B7-D7FA-29D9470046D2}"/>
              </a:ext>
            </a:extLst>
          </p:cNvPr>
          <p:cNvSpPr>
            <a:spLocks noGrp="1"/>
          </p:cNvSpPr>
          <p:nvPr>
            <p:ph type="title"/>
          </p:nvPr>
        </p:nvSpPr>
        <p:spPr>
          <a:xfrm>
            <a:off x="154800" y="440112"/>
            <a:ext cx="11880000" cy="710067"/>
          </a:xfrm>
        </p:spPr>
        <p:txBody>
          <a:bodyPr/>
          <a:lstStyle/>
          <a:p>
            <a:r>
              <a:rPr lang="en-US" noProof="0" dirty="0"/>
              <a:t>Integrationtest-kafka technical debt is 18.2 person years (42% of its volume)</a:t>
            </a:r>
          </a:p>
        </p:txBody>
      </p:sp>
      <p:sp>
        <p:nvSpPr>
          <p:cNvPr id="9" name="Rectangle 8">
            <a:extLst>
              <a:ext uri="{FF2B5EF4-FFF2-40B4-BE49-F238E27FC236}">
                <a16:creationId xmlns:a16="http://schemas.microsoft.com/office/drawing/2014/main" id="{0C899634-9D42-069D-8642-EC64A877D76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0" name="TextBox 20">
            <a:extLst>
              <a:ext uri="{FF2B5EF4-FFF2-40B4-BE49-F238E27FC236}">
                <a16:creationId xmlns:a16="http://schemas.microsoft.com/office/drawing/2014/main" id="{C4DC25EC-B24A-5D12-8A8F-843FC11DA1F0}"/>
              </a:ext>
            </a:extLst>
          </p:cNvPr>
          <p:cNvSpPr txBox="1"/>
          <p:nvPr/>
        </p:nvSpPr>
        <p:spPr>
          <a:xfrm>
            <a:off x="2096093" y="6441308"/>
            <a:ext cx="9428642" cy="256609"/>
          </a:xfrm>
          <a:prstGeom prst="rect">
            <a:avLst/>
          </a:prstGeom>
          <a:noFill/>
        </p:spPr>
        <p:txBody>
          <a:bodyPr wrap="square" lIns="0" tIns="45720" rIns="0" bIns="45720" rtlCol="0" anchor="t">
            <a:spAutoFit/>
          </a:bodyPr>
          <a:lstStyle/>
          <a:p>
            <a:pPr>
              <a:lnSpc>
                <a:spcPct val="113000"/>
              </a:lnSpc>
            </a:pPr>
            <a:r>
              <a:rPr lang="en-US" sz="1000" noProof="0" dirty="0">
                <a:solidFill>
                  <a:schemeClr val="bg2">
                    <a:lumMod val="50000"/>
                  </a:schemeClr>
                </a:solidFill>
              </a:rPr>
              <a:t>* At an assumed cost of </a:t>
            </a:r>
            <a:r>
              <a:rPr lang="en-US" sz="1000" b="1" i="0" noProof="0" dirty="0">
                <a:solidFill>
                  <a:schemeClr val="bg2">
                    <a:lumMod val="50000"/>
                  </a:schemeClr>
                </a:solidFill>
                <a:effectLst/>
                <a:latin typeface="Google Sans"/>
              </a:rPr>
              <a:t>€</a:t>
            </a:r>
            <a:r>
              <a:rPr lang="en-US" sz="1000" b="1" noProof="0" dirty="0">
                <a:solidFill>
                  <a:schemeClr val="bg2">
                    <a:lumMod val="50000"/>
                  </a:schemeClr>
                </a:solidFill>
              </a:rPr>
              <a:t>150K/FTE per year</a:t>
            </a:r>
            <a:r>
              <a:rPr lang="en-US" sz="1000" noProof="0" dirty="0">
                <a:solidFill>
                  <a:schemeClr val="bg2">
                    <a:lumMod val="50000"/>
                  </a:schemeClr>
                </a:solidFill>
              </a:rPr>
              <a:t>; Costs address software development effort, no additional project (management) costs.</a:t>
            </a:r>
          </a:p>
        </p:txBody>
      </p:sp>
      <p:cxnSp>
        <p:nvCxnSpPr>
          <p:cNvPr id="28" name="Straight Connector 6">
            <a:extLst>
              <a:ext uri="{FF2B5EF4-FFF2-40B4-BE49-F238E27FC236}">
                <a16:creationId xmlns:a16="http://schemas.microsoft.com/office/drawing/2014/main" id="{BC9E30B0-576B-88A2-00C1-921F32E0F2D8}"/>
              </a:ext>
            </a:extLst>
          </p:cNvPr>
          <p:cNvCxnSpPr>
            <a:cxnSpLocks/>
          </p:cNvCxnSpPr>
          <p:nvPr/>
        </p:nvCxnSpPr>
        <p:spPr>
          <a:xfrm>
            <a:off x="8460712" y="1525524"/>
            <a:ext cx="0" cy="4505033"/>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
        <p:nvSpPr>
          <p:cNvPr id="30" name="TextBox 14">
            <a:extLst>
              <a:ext uri="{FF2B5EF4-FFF2-40B4-BE49-F238E27FC236}">
                <a16:creationId xmlns:a16="http://schemas.microsoft.com/office/drawing/2014/main" id="{D9EF6390-5FE2-830E-BA6B-5297C426F1C3}"/>
              </a:ext>
            </a:extLst>
          </p:cNvPr>
          <p:cNvSpPr txBox="1">
            <a:spLocks noGrp="1" noRot="1" noMove="1" noResize="1" noEditPoints="1" noAdjustHandles="1" noChangeArrowheads="1" noChangeShapeType="1"/>
          </p:cNvSpPr>
          <p:nvPr/>
        </p:nvSpPr>
        <p:spPr>
          <a:xfrm>
            <a:off x="8581292" y="1420924"/>
            <a:ext cx="1379052" cy="357277"/>
          </a:xfrm>
          <a:prstGeom prst="rect">
            <a:avLst/>
          </a:prstGeom>
          <a:noFill/>
        </p:spPr>
        <p:txBody>
          <a:bodyPr wrap="none" lIns="90000" rtlCol="0" anchor="t">
            <a:spAutoFit/>
          </a:bodyPr>
          <a:lstStyle/>
          <a:p>
            <a:pPr algn="l">
              <a:lnSpc>
                <a:spcPct val="113000"/>
              </a:lnSpc>
            </a:pPr>
            <a:r>
              <a:rPr lang="en-US" sz="1600" noProof="0" dirty="0">
                <a:latin typeface="☞NOIR PRO MEDIUM" pitchFamily="2" charset="0"/>
              </a:rPr>
              <a:t>Terminology</a:t>
            </a:r>
          </a:p>
        </p:txBody>
      </p:sp>
      <p:graphicFrame>
        <p:nvGraphicFramePr>
          <p:cNvPr id="6" name="Table 10">
            <a:extLst>
              <a:ext uri="{FF2B5EF4-FFF2-40B4-BE49-F238E27FC236}">
                <a16:creationId xmlns:a16="http://schemas.microsoft.com/office/drawing/2014/main" id="{5EC81CC7-8162-6B1C-495A-A6286EDF4C96}"/>
              </a:ext>
            </a:extLst>
          </p:cNvPr>
          <p:cNvGraphicFramePr>
            <a:graphicFrameLocks noGrp="1"/>
          </p:cNvGraphicFramePr>
          <p:nvPr>
            <p:extLst>
              <p:ext uri="{D42A27DB-BD31-4B8C-83A1-F6EECF244321}">
                <p14:modId xmlns:p14="http://schemas.microsoft.com/office/powerpoint/2010/main" val="1460280873"/>
              </p:ext>
            </p:extLst>
          </p:nvPr>
        </p:nvGraphicFramePr>
        <p:xfrm>
          <a:off x="154800" y="3881008"/>
          <a:ext cx="8104657" cy="1354800"/>
        </p:xfrm>
        <a:graphic>
          <a:graphicData uri="http://schemas.openxmlformats.org/drawingml/2006/table">
            <a:tbl>
              <a:tblPr firstRow="1" bandRow="1">
                <a:effectLst/>
                <a:tableStyleId>{F2DE63D5-997A-4646-A377-4702673A728D}</a:tableStyleId>
              </a:tblPr>
              <a:tblGrid>
                <a:gridCol w="2065886">
                  <a:extLst>
                    <a:ext uri="{9D8B030D-6E8A-4147-A177-3AD203B41FA5}">
                      <a16:colId xmlns:a16="http://schemas.microsoft.com/office/drawing/2014/main" val="20000"/>
                    </a:ext>
                  </a:extLst>
                </a:gridCol>
                <a:gridCol w="1175657">
                  <a:extLst>
                    <a:ext uri="{9D8B030D-6E8A-4147-A177-3AD203B41FA5}">
                      <a16:colId xmlns:a16="http://schemas.microsoft.com/office/drawing/2014/main" val="14339150"/>
                    </a:ext>
                  </a:extLst>
                </a:gridCol>
                <a:gridCol w="1197428">
                  <a:extLst>
                    <a:ext uri="{9D8B030D-6E8A-4147-A177-3AD203B41FA5}">
                      <a16:colId xmlns:a16="http://schemas.microsoft.com/office/drawing/2014/main" val="2067085742"/>
                    </a:ext>
                  </a:extLst>
                </a:gridCol>
                <a:gridCol w="1230086">
                  <a:extLst>
                    <a:ext uri="{9D8B030D-6E8A-4147-A177-3AD203B41FA5}">
                      <a16:colId xmlns:a16="http://schemas.microsoft.com/office/drawing/2014/main" val="3304719765"/>
                    </a:ext>
                  </a:extLst>
                </a:gridCol>
                <a:gridCol w="1184218">
                  <a:extLst>
                    <a:ext uri="{9D8B030D-6E8A-4147-A177-3AD203B41FA5}">
                      <a16:colId xmlns:a16="http://schemas.microsoft.com/office/drawing/2014/main" val="377289107"/>
                    </a:ext>
                  </a:extLst>
                </a:gridCol>
                <a:gridCol w="1251382">
                  <a:extLst>
                    <a:ext uri="{9D8B030D-6E8A-4147-A177-3AD203B41FA5}">
                      <a16:colId xmlns:a16="http://schemas.microsoft.com/office/drawing/2014/main" val="1699343221"/>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rPr>
                        <a:t>System</a:t>
                      </a:r>
                      <a:endParaRPr lang="en-US" sz="1400" b="0" i="0" noProof="0" dirty="0">
                        <a:solidFill>
                          <a:schemeClr val="tx1"/>
                        </a:solidFill>
                        <a:latin typeface="Noir Pro Medium" pitchFamily="2" charset="0"/>
                        <a:cs typeface="TheSans B4 SemiLight"/>
                      </a:endParaRPr>
                    </a:p>
                  </a:txBody>
                  <a:tcPr marL="216000" marR="108000" marT="72000" marB="72000" anchor="ctr">
                    <a:lnL w="9525" cap="flat" cmpd="sng" algn="ctr">
                      <a:noFill/>
                      <a:prstDash val="soli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Code </a:t>
                      </a:r>
                      <a:br>
                        <a:rPr lang="en-US" sz="1400" b="0" i="0" noProof="0" dirty="0">
                          <a:solidFill>
                            <a:schemeClr val="bg1"/>
                          </a:solidFill>
                          <a:latin typeface="Noir Pro Medium" pitchFamily="2" charset="0"/>
                          <a:cs typeface="TheSans B4 SemiLight"/>
                        </a:rPr>
                      </a:br>
                      <a:r>
                        <a:rPr lang="en-US" sz="1400" b="0" i="0" noProof="0" dirty="0">
                          <a:solidFill>
                            <a:schemeClr val="bg1"/>
                          </a:solidFill>
                          <a:latin typeface="Noir Pro Medium" pitchFamily="2" charset="0"/>
                          <a:cs typeface="TheSans B4 SemiLight"/>
                        </a:rPr>
                        <a:t>volume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Technical debt</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Projected maintenance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Available capacity</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Innovation capacity</a:t>
                      </a:r>
                    </a:p>
                  </a:txBody>
                  <a:tcPr marL="0" marR="0" marT="72000" marB="72000" anchor="ctr">
                    <a:lnL w="12700" cap="flat" cmpd="sng" algn="ctr">
                      <a:solidFill>
                        <a:schemeClr val="bg1"/>
                      </a:solidFill>
                      <a:prstDash val="solid"/>
                      <a:round/>
                      <a:headEnd type="none" w="med" len="med"/>
                      <a:tailEnd type="none" w="med" len="med"/>
                    </a:lnL>
                    <a:lnR>
                      <a:noFill/>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57C968"/>
                    </a:solidFill>
                  </a:tcPr>
                </a:tc>
                <a:extLst>
                  <a:ext uri="{0D108BD9-81ED-4DB2-BD59-A6C34878D82A}">
                    <a16:rowId xmlns:a16="http://schemas.microsoft.com/office/drawing/2014/main" val="10000"/>
                  </a:ext>
                </a:extLst>
              </a:tr>
              <a:tr h="0">
                <a:tc>
                  <a:txBody>
                    <a:bodyPr/>
                    <a:lstStyle/>
                    <a:p>
                      <a:pPr algn="l"/>
                      <a:r>
                        <a:rPr lang="en-US" sz="1400" b="0" noProof="0" dirty="0" err="1">
                          <a:solidFill>
                            <a:schemeClr val="tx1"/>
                          </a:solidFill>
                        </a:rPr>
                        <a:t>Integrationtest-kafka</a:t>
                      </a:r>
                      <a:endParaRPr lang="en-US" sz="1400" b="0" noProof="0" dirty="0">
                        <a:solidFill>
                          <a:schemeClr val="tx1"/>
                        </a:solidFill>
                      </a:endParaRPr>
                    </a:p>
                  </a:txBody>
                  <a:tcPr marL="216000"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err="1">
                          <a:solidFill>
                            <a:schemeClr val="tx1"/>
                          </a:solidFill>
                        </a:rPr>
                        <a:t>43.0 PY</a:t>
                      </a:r>
                    </a:p>
                  </a:txBody>
                  <a:tcPr marT="72000" marB="72000" anchor="ctr">
                    <a:lnL w="9525" cap="flat" cmpd="sng" algn="ctr">
                      <a:noFill/>
                      <a:prstDash val="solid"/>
                    </a:lnL>
                    <a:lnR w="12700" cap="flat" cmpd="sng" algn="ctr">
                      <a:noFill/>
                      <a:prstDash val="solid"/>
                      <a:round/>
                      <a:headEnd type="none" w="med" len="med"/>
                      <a:tailEnd type="none" w="med" len="med"/>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noProof="0" dirty="0">
                          <a:solidFill>
                            <a:schemeClr val="tx1"/>
                          </a:solidFill>
                          <a:latin typeface="+mn-lt"/>
                          <a:ea typeface="+mn-ea"/>
                          <a:cs typeface="+mn-cs"/>
                        </a:rPr>
                        <a:t>18.2 PY</a:t>
                      </a:r>
                    </a:p>
                  </a:txBody>
                  <a:tcPr marT="72000" marB="72000" anchor="ctr">
                    <a:lnL w="12700" cap="flat" cmpd="sng" algn="ctr">
                      <a:no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chemeClr val="tx1"/>
                          </a:solidFill>
                          <a:effectLst/>
                          <a:uLnTx/>
                          <a:uFillTx/>
                          <a:latin typeface="+mn-lt"/>
                          <a:ea typeface="+mn-ea"/>
                          <a:cs typeface="+mn-cs"/>
                        </a:rPr>
                        <a:t>6.5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a:solidFill>
                            <a:schemeClr val="tx1"/>
                          </a:solidFill>
                        </a:rPr>
                        <a:t>@@ FTE (@@%)</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98F1D6A9-6AA2-B77F-75EA-F5693038D87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2" name="Rectangle 51">
            <a:extLst>
              <a:ext uri="{FF2B5EF4-FFF2-40B4-BE49-F238E27FC236}">
                <a16:creationId xmlns:a16="http://schemas.microsoft.com/office/drawing/2014/main" id="{6B7B3571-B154-08F5-EAB8-EDBD315AC933}"/>
              </a:ext>
            </a:extLst>
          </p:cNvPr>
          <p:cNvSpPr>
            <a:spLocks noGrp="1" noRot="1" noMove="1" noResize="1" noEditPoints="1" noAdjustHandles="1" noChangeArrowheads="1" noChangeShapeType="1"/>
          </p:cNvSpPr>
          <p:nvPr/>
        </p:nvSpPr>
        <p:spPr>
          <a:xfrm>
            <a:off x="8581291" y="1762133"/>
            <a:ext cx="3453503" cy="451342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80975"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2"/>
                </a:solidFill>
              </a:rPr>
              <a:t>Code volume </a:t>
            </a:r>
            <a:r>
              <a:rPr lang="en-US" sz="1200" noProof="0" dirty="0">
                <a:solidFill>
                  <a:schemeClr val="tx1"/>
                </a:solidFill>
              </a:rPr>
              <a:t>is the estimated amount of development effort to produce the current amount of lines of code.</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5"/>
                </a:solidFill>
              </a:rPr>
              <a:t>Technical debt</a:t>
            </a:r>
            <a:r>
              <a:rPr lang="en-US" sz="1200" noProof="0" dirty="0">
                <a:solidFill>
                  <a:schemeClr val="accent5"/>
                </a:solidFill>
              </a:rPr>
              <a:t> </a:t>
            </a:r>
            <a:r>
              <a:rPr lang="en-US" sz="1200" noProof="0" dirty="0">
                <a:solidFill>
                  <a:schemeClr val="tx1"/>
                </a:solidFill>
              </a:rPr>
              <a:t>is the estimated amount of development effort to improve the Maintainability of the system to a given target rating (typically 3.5). The recommended target level can be adjusted, depending on the context of the system.</a:t>
            </a:r>
          </a:p>
          <a:p>
            <a:pPr marL="171450" indent="-171450">
              <a:spcAft>
                <a:spcPts val="1200"/>
              </a:spcAft>
              <a:buClr>
                <a:schemeClr val="tx1">
                  <a:lumMod val="40000"/>
                  <a:lumOff val="60000"/>
                </a:schemeClr>
              </a:buClr>
              <a:buFont typeface="Arial" panose="020B0604020202020204" pitchFamily="34" charset="0"/>
              <a:buChar char="•"/>
            </a:pPr>
            <a:r>
              <a:rPr lang="en-US" sz="1200" noProof="0" dirty="0">
                <a:solidFill>
                  <a:schemeClr val="tx1"/>
                </a:solidFill>
              </a:rPr>
              <a:t>The yearly </a:t>
            </a:r>
            <a:r>
              <a:rPr lang="en-US" sz="1200" b="1" noProof="0" dirty="0">
                <a:solidFill>
                  <a:schemeClr val="accent4">
                    <a:lumMod val="75000"/>
                  </a:schemeClr>
                </a:solidFill>
              </a:rPr>
              <a:t>Projected maintenance </a:t>
            </a:r>
            <a:r>
              <a:rPr lang="en-US" sz="1200" noProof="0" dirty="0">
                <a:solidFill>
                  <a:schemeClr val="tx1"/>
                </a:solidFill>
              </a:rPr>
              <a:t>is calculated using the code volume and quality. It assumes an annual 15% required change rate in the code base (where 5% is considered the minimum in an EOL lifecycle phase). </a:t>
            </a:r>
            <a:r>
              <a:rPr lang="en-US" sz="1200" b="1" noProof="0" dirty="0">
                <a:solidFill>
                  <a:schemeClr val="tx1"/>
                </a:solidFill>
              </a:rPr>
              <a:t>Spending less effort is likely to deteriorate the maintainability.</a:t>
            </a:r>
            <a:endParaRPr lang="en-US" sz="1200" b="1" noProof="0" dirty="0">
              <a:solidFill>
                <a:schemeClr val="tx1"/>
              </a:solidFill>
              <a:ea typeface="Calibri"/>
              <a:cs typeface="Calibri"/>
            </a:endParaRP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3"/>
                </a:solidFill>
              </a:rPr>
              <a:t>Available capacity </a:t>
            </a:r>
            <a:r>
              <a:rPr lang="en-US" sz="1200" noProof="0" dirty="0">
                <a:solidFill>
                  <a:schemeClr val="tx1"/>
                </a:solidFill>
              </a:rPr>
              <a:t>is checked based on the number of developers working on the codebase in the past 12 months.</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rgbClr val="57C968"/>
                </a:solidFill>
              </a:rPr>
              <a:t>Innovation capacity </a:t>
            </a:r>
            <a:r>
              <a:rPr lang="en-US" sz="1200" noProof="0" dirty="0">
                <a:solidFill>
                  <a:schemeClr val="tx1"/>
                </a:solidFill>
              </a:rPr>
              <a:t>is the number of FTE available for innovation, calculated by subtracting projected FTE from the available FTE</a:t>
            </a:r>
          </a:p>
          <a:p>
            <a:pPr marL="285750" indent="-285750">
              <a:buClr>
                <a:schemeClr val="tx1">
                  <a:lumMod val="50000"/>
                  <a:lumOff val="50000"/>
                </a:schemeClr>
              </a:buClr>
              <a:buFont typeface=".AppleSystemUIFont"/>
              <a:buChar char="&gt;"/>
            </a:pPr>
            <a:endParaRPr lang="en-US" sz="1400" noProof="0" dirty="0">
              <a:solidFill>
                <a:schemeClr val="bg1">
                  <a:lumMod val="50000"/>
                </a:schemeClr>
              </a:solidFill>
            </a:endParaRPr>
          </a:p>
        </p:txBody>
      </p:sp>
      <p:cxnSp>
        <p:nvCxnSpPr>
          <p:cNvPr id="13" name="Straight Connector 16">
            <a:extLst>
              <a:ext uri="{FF2B5EF4-FFF2-40B4-BE49-F238E27FC236}">
                <a16:creationId xmlns:a16="http://schemas.microsoft.com/office/drawing/2014/main" id="{513C36C2-BD39-7400-5EF7-2B2BE3F51652}"/>
              </a:ext>
            </a:extLst>
          </p:cNvPr>
          <p:cNvCxnSpPr>
            <a:cxnSpLocks noGrp="1" noRot="1" noMove="1" noResize="1" noEditPoints="1" noAdjustHandles="1" noChangeArrowheads="1" noChangeShapeType="1"/>
          </p:cNvCxnSpPr>
          <p:nvPr/>
        </p:nvCxnSpPr>
        <p:spPr>
          <a:xfrm>
            <a:off x="8703278" y="1873108"/>
            <a:ext cx="0" cy="414914"/>
          </a:xfrm>
          <a:prstGeom prst="line">
            <a:avLst/>
          </a:prstGeom>
          <a:ln w="63500" cap="rnd">
            <a:solidFill>
              <a:schemeClr val="accent2"/>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7">
            <a:extLst>
              <a:ext uri="{FF2B5EF4-FFF2-40B4-BE49-F238E27FC236}">
                <a16:creationId xmlns:a16="http://schemas.microsoft.com/office/drawing/2014/main" id="{33E8D316-CE81-857A-9A37-7374096B09B4}"/>
              </a:ext>
            </a:extLst>
          </p:cNvPr>
          <p:cNvCxnSpPr>
            <a:cxnSpLocks noGrp="1" noRot="1" noMove="1" noResize="1" noEditPoints="1" noAdjustHandles="1" noChangeArrowheads="1" noChangeShapeType="1"/>
          </p:cNvCxnSpPr>
          <p:nvPr/>
        </p:nvCxnSpPr>
        <p:spPr>
          <a:xfrm>
            <a:off x="8703278" y="2564969"/>
            <a:ext cx="0" cy="996937"/>
          </a:xfrm>
          <a:prstGeom prst="line">
            <a:avLst/>
          </a:prstGeom>
          <a:ln w="63500" cap="rnd">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8">
            <a:extLst>
              <a:ext uri="{FF2B5EF4-FFF2-40B4-BE49-F238E27FC236}">
                <a16:creationId xmlns:a16="http://schemas.microsoft.com/office/drawing/2014/main" id="{031E0116-E325-3696-9898-7AEA82AA33E7}"/>
              </a:ext>
            </a:extLst>
          </p:cNvPr>
          <p:cNvCxnSpPr>
            <a:cxnSpLocks noGrp="1" noRot="1" noMove="1" noResize="1" noEditPoints="1" noAdjustHandles="1" noChangeArrowheads="1" noChangeShapeType="1"/>
          </p:cNvCxnSpPr>
          <p:nvPr/>
        </p:nvCxnSpPr>
        <p:spPr>
          <a:xfrm>
            <a:off x="8703278" y="3814079"/>
            <a:ext cx="0" cy="972937"/>
          </a:xfrm>
          <a:prstGeom prst="line">
            <a:avLst/>
          </a:prstGeom>
          <a:ln w="63500" cap="rnd">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6">
            <a:extLst>
              <a:ext uri="{FF2B5EF4-FFF2-40B4-BE49-F238E27FC236}">
                <a16:creationId xmlns:a16="http://schemas.microsoft.com/office/drawing/2014/main" id="{F2890E64-F917-1103-3B56-C727E285854F}"/>
              </a:ext>
            </a:extLst>
          </p:cNvPr>
          <p:cNvCxnSpPr>
            <a:cxnSpLocks noGrp="1" noRot="1" noMove="1" noResize="1" noEditPoints="1" noAdjustHandles="1" noChangeArrowheads="1" noChangeShapeType="1"/>
          </p:cNvCxnSpPr>
          <p:nvPr/>
        </p:nvCxnSpPr>
        <p:spPr>
          <a:xfrm>
            <a:off x="8703278" y="5082702"/>
            <a:ext cx="0" cy="414914"/>
          </a:xfrm>
          <a:prstGeom prst="line">
            <a:avLst/>
          </a:prstGeom>
          <a:ln w="63500" cap="rnd">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578821-521C-DF0B-77D9-5727D80D2434}"/>
              </a:ext>
            </a:extLst>
          </p:cNvPr>
          <p:cNvCxnSpPr>
            <a:cxnSpLocks noGrp="1" noRot="1" noMove="1" noResize="1" noEditPoints="1" noAdjustHandles="1" noChangeArrowheads="1" noChangeShapeType="1"/>
          </p:cNvCxnSpPr>
          <p:nvPr/>
        </p:nvCxnSpPr>
        <p:spPr>
          <a:xfrm>
            <a:off x="8703278" y="5788878"/>
            <a:ext cx="0" cy="414914"/>
          </a:xfrm>
          <a:prstGeom prst="line">
            <a:avLst/>
          </a:prstGeom>
          <a:ln w="63500" cap="rnd">
            <a:solidFill>
              <a:srgbClr val="57C968"/>
            </a:solidFill>
            <a:prstDash val="solid"/>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AB90D459-4420-2DF2-2C1D-808545BAE1C4}"/>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856569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8</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ISO 25010 standard for Maintainability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Oval 43">
            <a:extLst>
              <a:ext uri="{FF2B5EF4-FFF2-40B4-BE49-F238E27FC236}">
                <a16:creationId xmlns:a16="http://schemas.microsoft.com/office/drawing/2014/main" id="{E0BBCB73-C7CC-EF8D-3A7C-FC0B4B1C56A1}"/>
              </a:ext>
            </a:extLst>
          </p:cNvPr>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50000"/>
              </a:lnSpc>
            </a:pPr>
            <a:r>
              <a:rPr lang="en-US" sz="1400" noProof="0" dirty="0">
                <a:solidFill>
                  <a:schemeClr val="accent3"/>
                </a:solidFill>
                <a:latin typeface="Azeret Mono" pitchFamily="2" charset="77"/>
                <a:cs typeface="Azeret Mono" pitchFamily="2" charset="77"/>
              </a:rPr>
              <a:t>Maintainability is the </a:t>
            </a:r>
            <a:r>
              <a:rPr lang="en-US" sz="1400" noProof="0" dirty="0">
                <a:latin typeface="Azeret Mono" pitchFamily="2" charset="77"/>
                <a:cs typeface="Azeret Mono" pitchFamily="2" charset="77"/>
              </a:rPr>
              <a:t>degree of effectiveness and efficiency</a:t>
            </a:r>
            <a:r>
              <a:rPr lang="en-US" sz="1400" noProof="0" dirty="0">
                <a:solidFill>
                  <a:schemeClr val="accent3"/>
                </a:solidFill>
                <a:latin typeface="Azeret Mono" pitchFamily="2" charset="77"/>
                <a:cs typeface="Azeret Mono" pitchFamily="2" charset="77"/>
              </a:rPr>
              <a:t> with which a product or system </a:t>
            </a:r>
            <a:r>
              <a:rPr lang="en-US" sz="1400" noProof="0" dirty="0">
                <a:latin typeface="Azeret Mono" pitchFamily="2" charset="77"/>
                <a:cs typeface="Azeret Mono" pitchFamily="2" charset="77"/>
              </a:rPr>
              <a:t>can be modified</a:t>
            </a:r>
            <a:r>
              <a:rPr lang="en-US" sz="1400" noProof="0" dirty="0">
                <a:solidFill>
                  <a:schemeClr val="accent3"/>
                </a:solidFill>
                <a:latin typeface="Azeret Mono" pitchFamily="2" charset="77"/>
                <a:cs typeface="Azeret Mono" pitchFamily="2" charset="77"/>
              </a:rPr>
              <a:t> to improve it, correct it or adapt it to changes in environment, and in requirements.</a:t>
            </a: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grpSp>
        <p:nvGrpSpPr>
          <p:cNvPr id="2" name="Groep 1">
            <a:extLst>
              <a:ext uri="{FF2B5EF4-FFF2-40B4-BE49-F238E27FC236}">
                <a16:creationId xmlns:a16="http://schemas.microsoft.com/office/drawing/2014/main" id="{7CC85480-4E9F-88F0-82A3-297861B80249}"/>
              </a:ext>
            </a:extLst>
          </p:cNvPr>
          <p:cNvGrpSpPr/>
          <p:nvPr/>
        </p:nvGrpSpPr>
        <p:grpSpPr>
          <a:xfrm>
            <a:off x="5727023" y="3352101"/>
            <a:ext cx="750242" cy="750242"/>
            <a:chOff x="5933559" y="1864863"/>
            <a:chExt cx="328966" cy="328966"/>
          </a:xfrm>
        </p:grpSpPr>
        <p:sp>
          <p:nvSpPr>
            <p:cNvPr id="97" name="Oval 96">
              <a:extLst>
                <a:ext uri="{FF2B5EF4-FFF2-40B4-BE49-F238E27FC236}">
                  <a16:creationId xmlns:a16="http://schemas.microsoft.com/office/drawing/2014/main" id="{5EBEB883-B167-9258-9B3C-2408558E83C0}"/>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98" name="Graphic 97">
              <a:extLst>
                <a:ext uri="{FF2B5EF4-FFF2-40B4-BE49-F238E27FC236}">
                  <a16:creationId xmlns:a16="http://schemas.microsoft.com/office/drawing/2014/main" id="{A1F63EEE-282A-49B8-7F1F-6C06CA2642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1" name="Oval 43">
            <a:extLst>
              <a:ext uri="{FF2B5EF4-FFF2-40B4-BE49-F238E27FC236}">
                <a16:creationId xmlns:a16="http://schemas.microsoft.com/office/drawing/2014/main" id="{FC31513E-AADB-57EA-8918-A3D07FEEF498}"/>
              </a:ext>
            </a:extLst>
          </p:cNvPr>
          <p:cNvSpPr/>
          <p:nvPr/>
        </p:nvSpPr>
        <p:spPr>
          <a:xfrm>
            <a:off x="5569297" y="3200400"/>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7" name="Tekstvak 6">
            <a:extLst>
              <a:ext uri="{FF2B5EF4-FFF2-40B4-BE49-F238E27FC236}">
                <a16:creationId xmlns:a16="http://schemas.microsoft.com/office/drawing/2014/main" id="{DDA7093A-1B01-B016-708F-AB00927B2C3C}"/>
              </a:ext>
            </a:extLst>
          </p:cNvPr>
          <p:cNvSpPr txBox="1"/>
          <p:nvPr/>
        </p:nvSpPr>
        <p:spPr>
          <a:xfrm>
            <a:off x="381216" y="2467036"/>
            <a:ext cx="3118311" cy="357277"/>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ISO 25010 sub-characteristics</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1897130" y="2957541"/>
            <a:ext cx="1430348"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Analyzability</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875926" y="3456782"/>
            <a:ext cx="1395083"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Modifiability</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2119163" y="3956023"/>
            <a:ext cx="1191501"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Testability</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177515" y="4455264"/>
            <a:ext cx="1236385"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Modularity</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7522" y="4954505"/>
            <a:ext cx="1247606"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Reusability</a:t>
            </a:r>
          </a:p>
        </p:txBody>
      </p:sp>
      <p:sp>
        <p:nvSpPr>
          <p:cNvPr id="35" name="TextBox 41">
            <a:extLst>
              <a:ext uri="{FF2B5EF4-FFF2-40B4-BE49-F238E27FC236}">
                <a16:creationId xmlns:a16="http://schemas.microsoft.com/office/drawing/2014/main" id="{206057EE-BF64-9DF8-554C-8935F9D2B966}"/>
              </a:ext>
            </a:extLst>
          </p:cNvPr>
          <p:cNvSpPr txBox="1"/>
          <p:nvPr/>
        </p:nvSpPr>
        <p:spPr>
          <a:xfrm rot="431438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noProof="0" dirty="0">
                <a:gradFill>
                  <a:gsLst>
                    <a:gs pos="26000">
                      <a:srgbClr val="E98C36"/>
                    </a:gs>
                    <a:gs pos="67000">
                      <a:schemeClr val="accent4"/>
                    </a:gs>
                  </a:gsLst>
                  <a:lin ang="9600000" scaled="0"/>
                </a:gradFill>
                <a:latin typeface="Noir Pro Semi Bold" pitchFamily="2" charset="0"/>
              </a:rPr>
              <a:t>ISO 25010       Maintainability</a:t>
            </a:r>
          </a:p>
        </p:txBody>
      </p:sp>
      <p:pic>
        <p:nvPicPr>
          <p:cNvPr id="36" name="Graphic 35">
            <a:extLst>
              <a:ext uri="{FF2B5EF4-FFF2-40B4-BE49-F238E27FC236}">
                <a16:creationId xmlns:a16="http://schemas.microsoft.com/office/drawing/2014/main" id="{C6AEC9BC-2562-04CA-C1D9-0C7137DF20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
        <p:nvSpPr>
          <p:cNvPr id="6" name="Footer Placeholder 4">
            <a:extLst>
              <a:ext uri="{FF2B5EF4-FFF2-40B4-BE49-F238E27FC236}">
                <a16:creationId xmlns:a16="http://schemas.microsoft.com/office/drawing/2014/main" id="{CEDCB514-EEAB-921C-29E3-76B18FF54E18}"/>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418998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2404922" y="2119302"/>
            <a:ext cx="9173128"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9</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The SIG/</a:t>
            </a:r>
            <a:r>
              <a:rPr lang="en-US" noProof="0" dirty="0" err="1"/>
              <a:t>TÜViT</a:t>
            </a:r>
            <a:r>
              <a:rPr lang="en-US" noProof="0" dirty="0"/>
              <a:t> model maps the sub-characteristics to the system properties</a:t>
            </a:r>
          </a:p>
        </p:txBody>
      </p:sp>
      <p:grpSp>
        <p:nvGrpSpPr>
          <p:cNvPr id="16" name="Groep 15">
            <a:extLst>
              <a:ext uri="{FF2B5EF4-FFF2-40B4-BE49-F238E27FC236}">
                <a16:creationId xmlns:a16="http://schemas.microsoft.com/office/drawing/2014/main" id="{2EB7272D-F604-D956-AAE5-B2981212C033}"/>
              </a:ext>
            </a:extLst>
          </p:cNvPr>
          <p:cNvGrpSpPr/>
          <p:nvPr/>
        </p:nvGrpSpPr>
        <p:grpSpPr>
          <a:xfrm>
            <a:off x="3955803" y="2780488"/>
            <a:ext cx="1487734" cy="339865"/>
            <a:chOff x="3955803" y="2830273"/>
            <a:chExt cx="1487734" cy="339865"/>
          </a:xfrm>
        </p:grpSpPr>
        <p:grpSp>
          <p:nvGrpSpPr>
            <p:cNvPr id="23" name="Groep 22">
              <a:extLst>
                <a:ext uri="{FF2B5EF4-FFF2-40B4-BE49-F238E27FC236}">
                  <a16:creationId xmlns:a16="http://schemas.microsoft.com/office/drawing/2014/main" id="{10F67CCC-4965-E170-13FB-4DE08A2FB12B}"/>
                </a:ext>
              </a:extLst>
            </p:cNvPr>
            <p:cNvGrpSpPr/>
            <p:nvPr/>
          </p:nvGrpSpPr>
          <p:grpSpPr>
            <a:xfrm>
              <a:off x="4065156" y="2918313"/>
              <a:ext cx="1287688" cy="157941"/>
              <a:chOff x="4307640" y="2702807"/>
              <a:chExt cx="1287688" cy="157941"/>
            </a:xfrm>
          </p:grpSpPr>
          <p:sp>
            <p:nvSpPr>
              <p:cNvPr id="11" name="Ovaal 10">
                <a:extLst>
                  <a:ext uri="{FF2B5EF4-FFF2-40B4-BE49-F238E27FC236}">
                    <a16:creationId xmlns:a16="http://schemas.microsoft.com/office/drawing/2014/main" id="{B27E223E-7F96-98A3-1BCE-3C7E3476061A}"/>
                  </a:ext>
                </a:extLst>
              </p:cNvPr>
              <p:cNvSpPr/>
              <p:nvPr/>
            </p:nvSpPr>
            <p:spPr>
              <a:xfrm>
                <a:off x="4307640"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5437387"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5" name="Afgeronde rechthoek 4">
              <a:extLst>
                <a:ext uri="{FF2B5EF4-FFF2-40B4-BE49-F238E27FC236}">
                  <a16:creationId xmlns:a16="http://schemas.microsoft.com/office/drawing/2014/main" id="{C0978B86-C287-03A1-FB46-4DAE9843BB13}"/>
                </a:ext>
              </a:extLst>
            </p:cNvPr>
            <p:cNvSpPr/>
            <p:nvPr/>
          </p:nvSpPr>
          <p:spPr>
            <a:xfrm>
              <a:off x="3955803" y="2830273"/>
              <a:ext cx="148773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15" name="Groep 14">
            <a:extLst>
              <a:ext uri="{FF2B5EF4-FFF2-40B4-BE49-F238E27FC236}">
                <a16:creationId xmlns:a16="http://schemas.microsoft.com/office/drawing/2014/main" id="{6D345AE2-E02E-D32F-9CBD-7FC86770FA07}"/>
              </a:ext>
            </a:extLst>
          </p:cNvPr>
          <p:cNvGrpSpPr/>
          <p:nvPr/>
        </p:nvGrpSpPr>
        <p:grpSpPr>
          <a:xfrm>
            <a:off x="3955803" y="3249198"/>
            <a:ext cx="5018263" cy="339865"/>
            <a:chOff x="3955803" y="3291298"/>
            <a:chExt cx="5018263" cy="339865"/>
          </a:xfrm>
        </p:grpSpPr>
        <p:grpSp>
          <p:nvGrpSpPr>
            <p:cNvPr id="22" name="Groep 21">
              <a:extLst>
                <a:ext uri="{FF2B5EF4-FFF2-40B4-BE49-F238E27FC236}">
                  <a16:creationId xmlns:a16="http://schemas.microsoft.com/office/drawing/2014/main" id="{1BF8A6A9-6A5F-3E6F-8302-59A7894DA250}"/>
                </a:ext>
              </a:extLst>
            </p:cNvPr>
            <p:cNvGrpSpPr/>
            <p:nvPr/>
          </p:nvGrpSpPr>
          <p:grpSpPr>
            <a:xfrm>
              <a:off x="4065156" y="3376902"/>
              <a:ext cx="4813858" cy="157941"/>
              <a:chOff x="4307640" y="3166426"/>
              <a:chExt cx="4813858" cy="157941"/>
            </a:xfrm>
          </p:grpSpPr>
          <p:sp>
            <p:nvSpPr>
              <p:cNvPr id="30" name="Ovaal 29">
                <a:extLst>
                  <a:ext uri="{FF2B5EF4-FFF2-40B4-BE49-F238E27FC236}">
                    <a16:creationId xmlns:a16="http://schemas.microsoft.com/office/drawing/2014/main" id="{A1A0F8C2-9323-45A0-6442-CD6CF9F3DC4F}"/>
                  </a:ext>
                </a:extLst>
              </p:cNvPr>
              <p:cNvSpPr/>
              <p:nvPr/>
            </p:nvSpPr>
            <p:spPr>
              <a:xfrm>
                <a:off x="43076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1" name="Ovaal 30">
                <a:extLst>
                  <a:ext uri="{FF2B5EF4-FFF2-40B4-BE49-F238E27FC236}">
                    <a16:creationId xmlns:a16="http://schemas.microsoft.com/office/drawing/2014/main" id="{5D327F0B-D25F-E912-D40A-438F2DD37A48}"/>
                  </a:ext>
                </a:extLst>
              </p:cNvPr>
              <p:cNvSpPr/>
              <p:nvPr/>
            </p:nvSpPr>
            <p:spPr>
              <a:xfrm>
                <a:off x="65969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Ovaal 31">
                <a:extLst>
                  <a:ext uri="{FF2B5EF4-FFF2-40B4-BE49-F238E27FC236}">
                    <a16:creationId xmlns:a16="http://schemas.microsoft.com/office/drawing/2014/main" id="{BAEEFB57-DC37-56B7-9F13-3DEE86B7E6F4}"/>
                  </a:ext>
                </a:extLst>
              </p:cNvPr>
              <p:cNvSpPr/>
              <p:nvPr/>
            </p:nvSpPr>
            <p:spPr>
              <a:xfrm>
                <a:off x="8963557"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9" name="Afgeronde rechthoek 8">
              <a:extLst>
                <a:ext uri="{FF2B5EF4-FFF2-40B4-BE49-F238E27FC236}">
                  <a16:creationId xmlns:a16="http://schemas.microsoft.com/office/drawing/2014/main" id="{DBAC85F2-D462-26C2-8480-06B8112AEB41}"/>
                </a:ext>
              </a:extLst>
            </p:cNvPr>
            <p:cNvSpPr/>
            <p:nvPr/>
          </p:nvSpPr>
          <p:spPr>
            <a:xfrm>
              <a:off x="3955803" y="3291298"/>
              <a:ext cx="5018263"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8" name="Groep 7">
            <a:extLst>
              <a:ext uri="{FF2B5EF4-FFF2-40B4-BE49-F238E27FC236}">
                <a16:creationId xmlns:a16="http://schemas.microsoft.com/office/drawing/2014/main" id="{24A25421-1B5F-3753-AFD8-FEDCF2499C6D}"/>
              </a:ext>
            </a:extLst>
          </p:cNvPr>
          <p:cNvGrpSpPr/>
          <p:nvPr/>
        </p:nvGrpSpPr>
        <p:grpSpPr>
          <a:xfrm>
            <a:off x="6096000" y="3717908"/>
            <a:ext cx="5168112" cy="339865"/>
            <a:chOff x="6096000" y="3744528"/>
            <a:chExt cx="5168112" cy="339865"/>
          </a:xfrm>
        </p:grpSpPr>
        <p:grpSp>
          <p:nvGrpSpPr>
            <p:cNvPr id="24" name="Groep 23">
              <a:extLst>
                <a:ext uri="{FF2B5EF4-FFF2-40B4-BE49-F238E27FC236}">
                  <a16:creationId xmlns:a16="http://schemas.microsoft.com/office/drawing/2014/main" id="{34C2642E-BD9E-B164-9B50-9F6044701472}"/>
                </a:ext>
              </a:extLst>
            </p:cNvPr>
            <p:cNvGrpSpPr/>
            <p:nvPr/>
          </p:nvGrpSpPr>
          <p:grpSpPr>
            <a:xfrm>
              <a:off x="6368262" y="3835491"/>
              <a:ext cx="4797653" cy="157941"/>
              <a:chOff x="6610746" y="3796856"/>
              <a:chExt cx="4797653" cy="157941"/>
            </a:xfrm>
          </p:grpSpPr>
          <p:sp>
            <p:nvSpPr>
              <p:cNvPr id="34" name="Ovaal 33">
                <a:extLst>
                  <a:ext uri="{FF2B5EF4-FFF2-40B4-BE49-F238E27FC236}">
                    <a16:creationId xmlns:a16="http://schemas.microsoft.com/office/drawing/2014/main" id="{5C7E45C1-1A48-CBA8-888A-1A6A9F926F5C}"/>
                  </a:ext>
                </a:extLst>
              </p:cNvPr>
              <p:cNvSpPr/>
              <p:nvPr/>
            </p:nvSpPr>
            <p:spPr>
              <a:xfrm>
                <a:off x="6610746"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5" name="Ovaal 34">
                <a:extLst>
                  <a:ext uri="{FF2B5EF4-FFF2-40B4-BE49-F238E27FC236}">
                    <a16:creationId xmlns:a16="http://schemas.microsoft.com/office/drawing/2014/main" id="{D04F3E43-6E0B-8BCD-7228-E5FF88C02653}"/>
                  </a:ext>
                </a:extLst>
              </p:cNvPr>
              <p:cNvSpPr/>
              <p:nvPr/>
            </p:nvSpPr>
            <p:spPr>
              <a:xfrm>
                <a:off x="11250458"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3" name="Afgeronde rechthoek 12">
              <a:extLst>
                <a:ext uri="{FF2B5EF4-FFF2-40B4-BE49-F238E27FC236}">
                  <a16:creationId xmlns:a16="http://schemas.microsoft.com/office/drawing/2014/main" id="{0FED46CD-0272-D4D6-12BE-438AFB4120B1}"/>
                </a:ext>
              </a:extLst>
            </p:cNvPr>
            <p:cNvSpPr/>
            <p:nvPr/>
          </p:nvSpPr>
          <p:spPr>
            <a:xfrm>
              <a:off x="6096000" y="3744528"/>
              <a:ext cx="5168112"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7" name="Groep 6">
            <a:extLst>
              <a:ext uri="{FF2B5EF4-FFF2-40B4-BE49-F238E27FC236}">
                <a16:creationId xmlns:a16="http://schemas.microsoft.com/office/drawing/2014/main" id="{5E3456A8-CC1F-BB43-8D8C-7D6557414C9D}"/>
              </a:ext>
            </a:extLst>
          </p:cNvPr>
          <p:cNvGrpSpPr/>
          <p:nvPr/>
        </p:nvGrpSpPr>
        <p:grpSpPr>
          <a:xfrm>
            <a:off x="8601834" y="4186618"/>
            <a:ext cx="2662278" cy="339865"/>
            <a:chOff x="8601834" y="4197760"/>
            <a:chExt cx="2662278" cy="339865"/>
          </a:xfrm>
        </p:grpSpPr>
        <p:grpSp>
          <p:nvGrpSpPr>
            <p:cNvPr id="25" name="Groep 24">
              <a:extLst>
                <a:ext uri="{FF2B5EF4-FFF2-40B4-BE49-F238E27FC236}">
                  <a16:creationId xmlns:a16="http://schemas.microsoft.com/office/drawing/2014/main" id="{1A7CBC52-328C-B2D0-C7F6-04728E853D42}"/>
                </a:ext>
              </a:extLst>
            </p:cNvPr>
            <p:cNvGrpSpPr/>
            <p:nvPr/>
          </p:nvGrpSpPr>
          <p:grpSpPr>
            <a:xfrm>
              <a:off x="8708612" y="4294080"/>
              <a:ext cx="2457303" cy="157941"/>
              <a:chOff x="8951096" y="4294237"/>
              <a:chExt cx="2457303" cy="157941"/>
            </a:xfrm>
          </p:grpSpPr>
          <p:sp>
            <p:nvSpPr>
              <p:cNvPr id="36" name="Ovaal 35">
                <a:extLst>
                  <a:ext uri="{FF2B5EF4-FFF2-40B4-BE49-F238E27FC236}">
                    <a16:creationId xmlns:a16="http://schemas.microsoft.com/office/drawing/2014/main" id="{4334F243-08B2-6786-25B4-FF32DB399AA8}"/>
                  </a:ext>
                </a:extLst>
              </p:cNvPr>
              <p:cNvSpPr/>
              <p:nvPr/>
            </p:nvSpPr>
            <p:spPr>
              <a:xfrm>
                <a:off x="11250458"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Ovaal 36">
                <a:extLst>
                  <a:ext uri="{FF2B5EF4-FFF2-40B4-BE49-F238E27FC236}">
                    <a16:creationId xmlns:a16="http://schemas.microsoft.com/office/drawing/2014/main" id="{9E687F8D-E767-F317-E2C8-5013133A3E6C}"/>
                  </a:ext>
                </a:extLst>
              </p:cNvPr>
              <p:cNvSpPr/>
              <p:nvPr/>
            </p:nvSpPr>
            <p:spPr>
              <a:xfrm>
                <a:off x="10152377"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8" name="Ovaal 37">
                <a:extLst>
                  <a:ext uri="{FF2B5EF4-FFF2-40B4-BE49-F238E27FC236}">
                    <a16:creationId xmlns:a16="http://schemas.microsoft.com/office/drawing/2014/main" id="{36312CC0-E81D-1F88-7500-78BCB99C111F}"/>
                  </a:ext>
                </a:extLst>
              </p:cNvPr>
              <p:cNvSpPr/>
              <p:nvPr/>
            </p:nvSpPr>
            <p:spPr>
              <a:xfrm>
                <a:off x="8951096"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4" name="Afgeronde rechthoek 13">
              <a:extLst>
                <a:ext uri="{FF2B5EF4-FFF2-40B4-BE49-F238E27FC236}">
                  <a16:creationId xmlns:a16="http://schemas.microsoft.com/office/drawing/2014/main" id="{0C28EA2C-ADB2-610A-9843-B711D6BF6AD7}"/>
                </a:ext>
              </a:extLst>
            </p:cNvPr>
            <p:cNvSpPr/>
            <p:nvPr/>
          </p:nvSpPr>
          <p:spPr>
            <a:xfrm>
              <a:off x="8601834" y="4197760"/>
              <a:ext cx="2662278"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6" name="Groep 5">
            <a:extLst>
              <a:ext uri="{FF2B5EF4-FFF2-40B4-BE49-F238E27FC236}">
                <a16:creationId xmlns:a16="http://schemas.microsoft.com/office/drawing/2014/main" id="{1F44224B-F24D-C427-53AD-5E37EBAF3383}"/>
              </a:ext>
            </a:extLst>
          </p:cNvPr>
          <p:cNvGrpSpPr/>
          <p:nvPr/>
        </p:nvGrpSpPr>
        <p:grpSpPr>
          <a:xfrm>
            <a:off x="5089890" y="4655327"/>
            <a:ext cx="2759384" cy="339865"/>
            <a:chOff x="5089890" y="4658783"/>
            <a:chExt cx="2759384" cy="339865"/>
          </a:xfrm>
        </p:grpSpPr>
        <p:grpSp>
          <p:nvGrpSpPr>
            <p:cNvPr id="26" name="Groep 25">
              <a:extLst>
                <a:ext uri="{FF2B5EF4-FFF2-40B4-BE49-F238E27FC236}">
                  <a16:creationId xmlns:a16="http://schemas.microsoft.com/office/drawing/2014/main" id="{580DDB05-E7F6-E9B6-6EB5-93816E666A05}"/>
                </a:ext>
              </a:extLst>
            </p:cNvPr>
            <p:cNvGrpSpPr/>
            <p:nvPr/>
          </p:nvGrpSpPr>
          <p:grpSpPr>
            <a:xfrm>
              <a:off x="5194635" y="4752669"/>
              <a:ext cx="2555987" cy="157941"/>
              <a:chOff x="5437119" y="4812269"/>
              <a:chExt cx="2555987" cy="157941"/>
            </a:xfrm>
          </p:grpSpPr>
          <p:sp>
            <p:nvSpPr>
              <p:cNvPr id="39" name="Ovaal 38">
                <a:extLst>
                  <a:ext uri="{FF2B5EF4-FFF2-40B4-BE49-F238E27FC236}">
                    <a16:creationId xmlns:a16="http://schemas.microsoft.com/office/drawing/2014/main" id="{50BA0F96-2A00-CE63-9D2F-2D16A95C2D15}"/>
                  </a:ext>
                </a:extLst>
              </p:cNvPr>
              <p:cNvSpPr/>
              <p:nvPr/>
            </p:nvSpPr>
            <p:spPr>
              <a:xfrm>
                <a:off x="7835165"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0" name="Ovaal 39">
                <a:extLst>
                  <a:ext uri="{FF2B5EF4-FFF2-40B4-BE49-F238E27FC236}">
                    <a16:creationId xmlns:a16="http://schemas.microsoft.com/office/drawing/2014/main" id="{CE1D0E13-4B48-1770-693F-792379748CC8}"/>
                  </a:ext>
                </a:extLst>
              </p:cNvPr>
              <p:cNvSpPr/>
              <p:nvPr/>
            </p:nvSpPr>
            <p:spPr>
              <a:xfrm>
                <a:off x="5437119"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27" name="Afgeronde rechthoek 26">
              <a:extLst>
                <a:ext uri="{FF2B5EF4-FFF2-40B4-BE49-F238E27FC236}">
                  <a16:creationId xmlns:a16="http://schemas.microsoft.com/office/drawing/2014/main" id="{70808160-862B-ECE4-6A3E-5050F5A9C883}"/>
                </a:ext>
              </a:extLst>
            </p:cNvPr>
            <p:cNvSpPr/>
            <p:nvPr/>
          </p:nvSpPr>
          <p:spPr>
            <a:xfrm>
              <a:off x="5089890" y="4658783"/>
              <a:ext cx="2759384"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Maintainability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r>
              <a:rPr lang="en-US" sz="1400" noProof="0" dirty="0">
                <a:solidFill>
                  <a:schemeClr val="bg1"/>
                </a:solidFill>
                <a:latin typeface="☞NOIR PRO MEDIUM" pitchFamily="2" charset="0"/>
              </a:rPr>
              <a:t>25010</a:t>
            </a: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21" name="Picture 166">
            <a:extLst>
              <a:ext uri="{FF2B5EF4-FFF2-40B4-BE49-F238E27FC236}">
                <a16:creationId xmlns:a16="http://schemas.microsoft.com/office/drawing/2014/main" id="{0E781429-EAE9-5D29-21EF-7E7387F6E91F}"/>
              </a:ext>
            </a:extLst>
          </p:cNvPr>
          <p:cNvPicPr>
            <a:picLocks noChangeAspect="1"/>
          </p:cNvPicPr>
          <p:nvPr/>
        </p:nvPicPr>
        <p:blipFill>
          <a:blip r:embed="rId2">
            <a:lum bright="100000"/>
          </a:blip>
          <a:stretch>
            <a:fillRect/>
          </a:stretch>
        </p:blipFill>
        <p:spPr>
          <a:xfrm>
            <a:off x="342438" y="2225598"/>
            <a:ext cx="454660" cy="386461"/>
          </a:xfrm>
          <a:prstGeom prst="rect">
            <a:avLst/>
          </a:prstGeom>
        </p:spPr>
      </p:pic>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53658" y="2306414"/>
            <a:ext cx="359504" cy="239668"/>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extLst>
              <p:ext uri="{D42A27DB-BD31-4B8C-83A1-F6EECF244321}">
                <p14:modId xmlns:p14="http://schemas.microsoft.com/office/powerpoint/2010/main" val="2921088215"/>
              </p:ext>
            </p:extLst>
          </p:nvPr>
        </p:nvGraphicFramePr>
        <p:xfrm>
          <a:off x="2404922" y="2200267"/>
          <a:ext cx="9173128" cy="457200"/>
        </p:xfrm>
        <a:graphic>
          <a:graphicData uri="http://schemas.openxmlformats.org/drawingml/2006/table">
            <a:tbl>
              <a:tblPr>
                <a:tableStyleId>{5C22544A-7EE6-4342-B048-85BDC9FD1C3A}</a:tableStyleId>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p>
                      <a:pPr algn="ctr"/>
                      <a:endParaRPr lang="en-US" sz="1200" b="0" i="0" noProof="0" dirty="0">
                        <a:solidFill>
                          <a:schemeClr val="bg1"/>
                        </a:solidFill>
                        <a:latin typeface="☞NOIR PRO MEDIUM" pitchFamily="2" charset="0"/>
                      </a:endParaRP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49" name="Driehoek 48">
            <a:extLst>
              <a:ext uri="{FF2B5EF4-FFF2-40B4-BE49-F238E27FC236}">
                <a16:creationId xmlns:a16="http://schemas.microsoft.com/office/drawing/2014/main" id="{76614EDA-4914-AB80-9A45-AF481E7E5AAA}"/>
              </a:ext>
            </a:extLst>
          </p:cNvPr>
          <p:cNvSpPr/>
          <p:nvPr/>
        </p:nvSpPr>
        <p:spPr>
          <a:xfrm rot="10800000">
            <a:off x="1075993" y="2580143"/>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0" name="Driehoek 49">
            <a:extLst>
              <a:ext uri="{FF2B5EF4-FFF2-40B4-BE49-F238E27FC236}">
                <a16:creationId xmlns:a16="http://schemas.microsoft.com/office/drawing/2014/main" id="{2C9FFFED-5DCC-8361-E111-40B1639E7797}"/>
              </a:ext>
            </a:extLst>
          </p:cNvPr>
          <p:cNvSpPr/>
          <p:nvPr/>
        </p:nvSpPr>
        <p:spPr>
          <a:xfrm rot="5400000">
            <a:off x="2409413" y="2405190"/>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8" name="Graphic 57">
            <a:extLst>
              <a:ext uri="{FF2B5EF4-FFF2-40B4-BE49-F238E27FC236}">
                <a16:creationId xmlns:a16="http://schemas.microsoft.com/office/drawing/2014/main" id="{22A25979-9B27-41E5-42F3-4829A8820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092" y="1549761"/>
            <a:ext cx="262890" cy="260985"/>
          </a:xfrm>
          <a:prstGeom prst="rect">
            <a:avLst/>
          </a:prstGeom>
        </p:spPr>
      </p:pic>
      <p:sp>
        <p:nvSpPr>
          <p:cNvPr id="10" name="Footer Placeholder 4">
            <a:extLst>
              <a:ext uri="{FF2B5EF4-FFF2-40B4-BE49-F238E27FC236}">
                <a16:creationId xmlns:a16="http://schemas.microsoft.com/office/drawing/2014/main" id="{B8B98495-652D-FBE8-27A1-3D955AEEA695}"/>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1659745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518124" cy="228209"/>
          </a:xfrm>
        </p:spPr>
        <p:txBody>
          <a:bodyPr/>
          <a:lstStyle/>
          <a:p>
            <a:r>
              <a:rPr lang="en-US" noProof="0" dirty="0"/>
              <a:t>Key findings – Maintainability benchmark</a:t>
            </a: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10</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dirty="0" err="1"/>
              <a:t>Integrationtest-kafka is a large system of 43.0 PY which scores 2.6 for maintainability </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CHART&#13;&#10;">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1776225825"/>
              </p:ext>
            </p:extLst>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
        <p:nvSpPr>
          <p:cNvPr id="2" name="Footer Placeholder 4">
            <a:extLst>
              <a:ext uri="{FF2B5EF4-FFF2-40B4-BE49-F238E27FC236}">
                <a16:creationId xmlns:a16="http://schemas.microsoft.com/office/drawing/2014/main" id="{7DF93ECD-8304-30C3-8FA0-5E7662AC236E}"/>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729317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a:xfrm>
            <a:off x="381000" y="129609"/>
            <a:ext cx="2674945" cy="228145"/>
          </a:xfrm>
        </p:spPr>
        <p:txBody>
          <a:bodyPr/>
          <a:lstStyle/>
          <a:p>
            <a:r>
              <a:rPr lang="en-US" noProof="0" dirty="0"/>
              <a:t>Key findings –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154799" y="2738112"/>
            <a:ext cx="8090297" cy="3525887"/>
          </a:xfrm>
        </p:spPr>
        <p:txBody>
          <a:bodyPr/>
          <a:lstStyle/>
          <a:p>
            <a:r>
              <a:rPr lang="en-US" sz="1400" noProof="0" dirty="0" err="1"/>
              <a:t>Integrationtest-kafka scores at market average for maintainability. This indicates average maintenance costs and time to market for functional changes. </a:t>
            </a:r>
          </a:p>
          <a:p>
            <a:endParaRPr lang="en-US" sz="1400" noProof="0" dirty="0"/>
          </a:p>
          <a:p>
            <a:r>
              <a:rPr lang="en-US" sz="1400" noProof="0" dirty="0">
                <a:latin typeface="Noir Pro Semi Bold" pitchFamily="2" charset="0"/>
              </a:rPr>
              <a:t>Notable metrics</a:t>
            </a:r>
          </a:p>
          <a:p>
            <a:r>
              <a:rPr lang="en-US" sz="1400" noProof="0" dirty="0" err="1"/>
              <a:t>The system shows high risk in its tightly coupled modules
The system shows high risk where components of the system depend on each other
The system's large size hinders its effective maintenance
The system shows high risk in units with large interfaces
The system shows high risk where components of the system often interact with each other
The system shows low risk in its duplicated logic.</a:t>
            </a:r>
            <a:endParaRPr lang="en-US" sz="1400" noProof="0" dirty="0"/>
          </a:p>
        </p:txBody>
      </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15"/>
          </p:nvPr>
        </p:nvSpPr>
        <p:spPr/>
        <p:txBody>
          <a:bodyPr/>
          <a:lstStyle/>
          <a:p>
            <a:fld id="{E242BD21-9B61-2246-BCB1-4BE5E1BEBE1C}" type="slidenum">
              <a:rPr lang="en-US" noProof="0" smtClean="0"/>
              <a:pPr/>
              <a:t>11</a:t>
            </a:fld>
            <a:endParaRPr lang="en-US" noProof="0" dirty="0"/>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dirty="0"/>
              <a:t>Integrationtest-kafka scores at market average for maintainability</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7" name="Groep 6">
            <a:extLst>
              <a:ext uri="{FF2B5EF4-FFF2-40B4-BE49-F238E27FC236}">
                <a16:creationId xmlns:a16="http://schemas.microsoft.com/office/drawing/2014/main" id="{8058F19A-8E04-B773-2F63-975EE437CF7B}"/>
              </a:ext>
            </a:extLst>
          </p:cNvPr>
          <p:cNvGrpSpPr>
            <a:grpSpLocks noGrp="1" noUngrp="1" noRot="1" noMove="1" noResize="1"/>
          </p:cNvGrpSpPr>
          <p:nvPr/>
        </p:nvGrpSpPr>
        <p:grpSpPr>
          <a:xfrm>
            <a:off x="134319" y="1137285"/>
            <a:ext cx="11923362" cy="1426530"/>
            <a:chOff x="134319" y="1137285"/>
            <a:chExt cx="11923362" cy="1426530"/>
          </a:xfrm>
        </p:grpSpPr>
        <p:sp>
          <p:nvSpPr>
            <p:cNvPr id="26" name="Rechthoek 25">
              <a:extLst>
                <a:ext uri="{FF2B5EF4-FFF2-40B4-BE49-F238E27FC236}">
                  <a16:creationId xmlns:a16="http://schemas.microsoft.com/office/drawing/2014/main" id="{0DCAE605-6045-AE2B-8209-321411B56E14}"/>
                </a:ext>
              </a:extLst>
            </p:cNvPr>
            <p:cNvSpPr>
              <a:spLocks noGrp="1" noRot="1" noMove="1" noResize="1" noEditPoints="1" noAdjustHandles="1" noChangeArrowheads="1" noChangeShapeType="1"/>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Afgeronde rechthoek 36">
              <a:extLst>
                <a:ext uri="{FF2B5EF4-FFF2-40B4-BE49-F238E27FC236}">
                  <a16:creationId xmlns:a16="http://schemas.microsoft.com/office/drawing/2014/main" id="{A519506A-F642-8B0A-0CD2-170BCE2AA552}"/>
                </a:ext>
              </a:extLst>
            </p:cNvPr>
            <p:cNvSpPr>
              <a:spLocks noGrp="1" noRot="1" noMove="1" noResize="1" noEditPoints="1" noAdjustHandles="1" noChangeArrowheads="1" noChangeShapeType="1"/>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3" name="TextBox 39">
              <a:extLst>
                <a:ext uri="{FF2B5EF4-FFF2-40B4-BE49-F238E27FC236}">
                  <a16:creationId xmlns:a16="http://schemas.microsoft.com/office/drawing/2014/main" id="{8A515EA8-6F7F-CB57-EEF9-6A988D6515A9}"/>
                </a:ext>
              </a:extLst>
            </p:cNvPr>
            <p:cNvSpPr txBox="1">
              <a:spLocks noGrp="1" noRot="1" noMove="1" noResize="1" noEditPoints="1" noAdjustHandles="1" noChangeArrowheads="1" noChangeShapeType="1"/>
            </p:cNvSpPr>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noGrp="1" noRot="1" noMove="1" noResize="1" noEditPoints="1" noAdjustHandles="1" noChangeArrowheads="1" noChangeShapeType="1"/>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noGrp="1" noRot="1" noMove="1" noResize="1" noEditPoints="1" noAdjustHandles="1" noChangeArrowheads="1" noChangeShapeType="1"/>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noGrp="1" noRot="1" noMove="1" noResize="1" noEditPoints="1" noAdjustHandles="1" noChangeArrowheads="1" noChangeShapeType="1"/>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noGrp="1" noRot="1" noMove="1" noResize="1" noEditPoints="1" noAdjustHandles="1" noChangeArrowheads="1" noChangeShapeType="1"/>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noGrp="1" noRot="1" noMove="1" noResize="1" noEditPoints="1" noAdjustHandles="1" noChangeArrowheads="1" noChangeShapeType="1"/>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5" name="Rechthoek 14">
              <a:extLst>
                <a:ext uri="{FF2B5EF4-FFF2-40B4-BE49-F238E27FC236}">
                  <a16:creationId xmlns:a16="http://schemas.microsoft.com/office/drawing/2014/main" id="{9B50D10F-F915-DCFC-A5F9-B9784D2E0A44}"/>
                </a:ext>
              </a:extLst>
            </p:cNvPr>
            <p:cNvSpPr>
              <a:spLocks noGrp="1" noRot="1" noMove="1" noResize="1" noEditPoints="1" noAdjustHandles="1" noChangeArrowheads="1" noChangeShapeType="1"/>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Afgeronde rechthoek 18">
              <a:extLst>
                <a:ext uri="{FF2B5EF4-FFF2-40B4-BE49-F238E27FC236}">
                  <a16:creationId xmlns:a16="http://schemas.microsoft.com/office/drawing/2014/main" id="{7222BC8B-9E66-91BE-A862-E4B0A9707F5E}"/>
                </a:ext>
              </a:extLst>
            </p:cNvPr>
            <p:cNvSpPr>
              <a:spLocks noGrp="1" noRot="1" noMove="1" noResize="1" noEditPoints="1" noAdjustHandles="1" noChangeArrowheads="1" noChangeShapeType="1"/>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noGrp="1" noRot="1" noMove="1" noResize="1" noEditPoints="1" noAdjustHandles="1" noChangeArrowheads="1" noChangeShapeType="1"/>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noGrp="1" noRot="1" noMove="1" noResize="1" noEditPoints="1" noAdjustHandles="1" noChangeArrowheads="1" noChangeShapeType="1"/>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noGrp="1" noRot="1" noMove="1" noResize="1" noEditPoints="1" noAdjustHandles="1" noChangeArrowheads="1" noChangeShapeType="1"/>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noGrp="1" noRot="1" noMove="1" noResize="1" noEditPoints="1" noAdjustHandles="1" noChangeArrowheads="1" noChangeShapeType="1"/>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noGrp="1" noRot="1" noMove="1" noResize="1" noEditPoints="1" noAdjustHandles="1" noChangeArrowheads="1" noChangeShapeType="1"/>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noGrp="1" noRot="1" noMove="1" noResize="1" noEditPoints="1" noAdjustHandles="1" noChangeArrowheads="1" noChangeShapeType="1"/>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noGrp="1" noRot="1" noMove="1" noResize="1" noEditPoints="1" noAdjustHandles="1" noChangeArrowheads="1" noChangeShapeType="1"/>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noGrp="1" noRot="1" noMove="1" noResize="1" noEditPoints="1" noAdjustHandles="1" noChangeArrowheads="1" noChangeShapeType="1"/>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noGrp="1" noRot="1" noMove="1" noResize="1" noEditPoints="1" noAdjustHandles="1" noChangeArrowheads="1" noChangeShapeType="1"/>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noGrp="1" noRot="1" noMove="1" noResize="1" noEditPoints="1" noAdjustHandles="1" noChangeArrowheads="1" noChangeShapeType="1"/>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noGrp="1" noRot="1" noMove="1" noResize="1" noEditPoints="1" noAdjustHandles="1" noChangeArrowheads="1" noChangeShapeType="1"/>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noGrp="1" noRot="1" noMove="1" noResize="1" noEditPoints="1" noAdjustHandles="1" noChangeArrowheads="1" noChangeShapeType="1"/>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noGrp="1" noRot="1" noMove="1" noResize="1" noEditPoints="1" noAdjustHandles="1" noChangeArrowheads="1" noChangeShapeType="1"/>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1238816226"/>
              </p:ext>
            </p:extLst>
          </p:nvPr>
        </p:nvGraphicFramePr>
        <p:xfrm>
          <a:off x="8571496" y="3035953"/>
          <a:ext cx="3315521" cy="1691748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chemeClr val="tx1"/>
                          </a:solidFill>
                          <a:effectLst/>
                          <a:latin typeface="+mn-lt"/>
                        </a:rPr>
                        <a:t>Unit size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15 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
        <p:nvSpPr>
          <p:cNvPr id="12" name="Footer Placeholder 4">
            <a:extLst>
              <a:ext uri="{FF2B5EF4-FFF2-40B4-BE49-F238E27FC236}">
                <a16:creationId xmlns:a16="http://schemas.microsoft.com/office/drawing/2014/main" id="{CDA89C97-6C2B-CBC6-7C32-011FC35ECB56}"/>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3761129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a:xfrm>
            <a:off x="381600" y="129600"/>
            <a:ext cx="2253356" cy="228145"/>
          </a:xfrm>
        </p:spPr>
        <p:txBody>
          <a:bodyPr/>
          <a:lstStyle/>
          <a:p>
            <a:r>
              <a:rPr lang="en-US" noProof="0" dirty="0"/>
              <a:t>Key findings – Technology</a:t>
            </a:r>
          </a:p>
        </p:txBody>
      </p:sp>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dirty="0"/>
              <a:t>The system is large in size and is built primarily in Java</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dirty="0" err="1"/>
              <a:t>The system is built using common and modern technologies.</a:t>
            </a:r>
            <a:endParaRPr lang="en-US" noProof="0" dirty="0"/>
          </a:p>
          <a:p>
            <a:pPr marL="285750" indent="-285750"/>
            <a:r>
              <a:rPr lang="en-US" noProof="0" dirty="0" err="1"/>
              <a:t>The system is mainly built using Java.</a:t>
            </a:r>
            <a:endParaRPr lang="en-US" noProof="0" dirty="0"/>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dirty="0">
                          <a:solidFill>
                            <a:schemeClr val="bg1"/>
                          </a:solidFill>
                          <a:latin typeface="+mn-lt"/>
                        </a:rPr>
                        <a:t>Technology</a:t>
                      </a:r>
                      <a:endParaRPr lang="en-US"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dirty="0">
                          <a:solidFill>
                            <a:schemeClr val="bg1"/>
                          </a:solidFill>
                          <a:latin typeface="+mn-lt"/>
                        </a:rPr>
                        <a:t>Lines of Code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dirty="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Java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solidFill>
                          <a:effectLst/>
                          <a:latin typeface="Calibri Regular"/>
                        </a:rPr>
                        <a:t>385712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lumMod val="60000"/>
                              <a:lumOff val="40000"/>
                            </a:schemeClr>
                          </a:solidFill>
                          <a:effectLst/>
                          <a:latin typeface="Calibri Regular"/>
                        </a:rPr>
                        <a:t>42.9</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747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0.1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dirty="0">
                <a:solidFill>
                  <a:schemeClr val="tx1"/>
                </a:solidFill>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43.0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386,459 LOC</a:t>
            </a:r>
          </a:p>
        </p:txBody>
      </p:sp>
      <p:sp>
        <p:nvSpPr>
          <p:cNvPr id="3" name="Footer Placeholder 4">
            <a:extLst>
              <a:ext uri="{FF2B5EF4-FFF2-40B4-BE49-F238E27FC236}">
                <a16:creationId xmlns:a16="http://schemas.microsoft.com/office/drawing/2014/main" id="{0F9170FB-EB04-2D52-E4B3-55BBDBB00146}"/>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3325148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a:xfrm>
            <a:off x="381600" y="129600"/>
            <a:ext cx="2169037" cy="228145"/>
          </a:xfrm>
        </p:spPr>
        <p:txBody>
          <a:bodyPr/>
          <a:lstStyle/>
          <a:p>
            <a:r>
              <a:rPr lang="en-US" noProof="0" dirty="0"/>
              <a:t>Key findings – Test code</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154800" y="1411200"/>
            <a:ext cx="5620353" cy="4842000"/>
          </a:xfrm>
        </p:spPr>
        <p:txBody>
          <a:bodyPr/>
          <a:lstStyle/>
          <a:p>
            <a:pPr marL="285750" indent="-285750">
              <a:lnSpc>
                <a:spcPct val="113000"/>
              </a:lnSpc>
              <a:buFont typeface="Arial" panose="020B0604020202020204" pitchFamily="34" charset="0"/>
              <a:buChar char="•"/>
            </a:pPr>
            <a:r>
              <a:rPr lang="en-US" noProof="0" dirty="0" err="1">
                <a:solidFill>
                  <a:schemeClr val="tx2"/>
                </a:solidFill>
              </a:rPr>
              <a:t>Integrationtest-kafka scores above market average, with 157% test/production code ratio. </a:t>
            </a:r>
          </a:p>
          <a:p>
            <a:pPr marL="285750" indent="-285750">
              <a:lnSpc>
                <a:spcPct val="113000"/>
              </a:lnSpc>
              <a:buFont typeface="Arial" panose="020B0604020202020204" pitchFamily="34" charset="0"/>
              <a:buChar char="•"/>
            </a:pPr>
            <a:r>
              <a:rPr lang="en-US" noProof="0" dirty="0" err="1">
                <a:solidFill>
                  <a:schemeClr val="tx2"/>
                </a:solidFill>
              </a:rPr>
              <a:t>that an extremely mature automated testing suite is in place, that will likely catch breaking changes at an early stage. This increases developer velocity and reduces bugs in production.</a:t>
            </a:r>
            <a:endParaRPr lang="en-US" noProof="0" dirty="0">
              <a:solidFill>
                <a:schemeClr val="tx2"/>
              </a:solidFill>
            </a:endParaRPr>
          </a:p>
        </p:txBody>
      </p:sp>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15"/>
          </p:nvPr>
        </p:nvSpPr>
        <p:spPr/>
        <p:txBody>
          <a:bodyPr/>
          <a:lstStyle/>
          <a:p>
            <a:fld id="{E242BD21-9B61-2246-BCB1-4BE5E1BEBE1C}" type="slidenum">
              <a:rPr lang="en-US" noProof="0" smtClean="0"/>
              <a:pPr/>
              <a:t>13</a:t>
            </a:fld>
            <a:endParaRPr lang="en-US" noProof="0" dirty="0"/>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dirty="0" err="1"/>
              <a:t>Integrationtest-kafka has a above market average test/code ratio</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dirty="0" err="1">
                <a:latin typeface="Noir Pro Semi Bold" pitchFamily="2" charset="0"/>
              </a:rPr>
              <a:t>157%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3"/>
          </a:graphicData>
        </a:graphic>
      </p:graphicFrame>
      <p:sp>
        <p:nvSpPr>
          <p:cNvPr id="11" name="Footer Placeholder 4">
            <a:extLst>
              <a:ext uri="{FF2B5EF4-FFF2-40B4-BE49-F238E27FC236}">
                <a16:creationId xmlns:a16="http://schemas.microsoft.com/office/drawing/2014/main" id="{ECC94B99-D17E-9114-E33E-B540BB7AA664}"/>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335596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14</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Architecture Quality model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noProof="0" dirty="0">
                <a:solidFill>
                  <a:schemeClr val="accent3"/>
                </a:solidFill>
                <a:latin typeface="Azeret Mono" pitchFamily="2" charset="77"/>
                <a:cs typeface="Azeret Mono" pitchFamily="2" charset="77"/>
              </a:rPr>
              <a:t>The SIG Architecture Quality model</a:t>
            </a:r>
            <a:r>
              <a:rPr lang="en-US" sz="1400" noProof="0" dirty="0">
                <a:latin typeface="Azeret Mono" pitchFamily="2" charset="77"/>
                <a:cs typeface="Azeret Mono" pitchFamily="2" charset="77"/>
              </a:rPr>
              <a:t> provides insight into the ability for an application to evolve as business needs change. </a:t>
            </a:r>
          </a:p>
          <a:p>
            <a:r>
              <a:rPr lang="en-US" sz="1400" noProof="0" dirty="0">
                <a:latin typeface="Azeret Mono" pitchFamily="2" charset="77"/>
                <a:cs typeface="Azeret Mono" pitchFamily="2" charset="77"/>
              </a:rPr>
              <a:t>Each of the 5 sub-characteristics represent properties of software architecture that affect the velocity in which foundational changes can be made to a software system.</a:t>
            </a:r>
            <a:endParaRPr lang="en-US" sz="1400" noProof="0" dirty="0">
              <a:solidFill>
                <a:schemeClr val="accent3"/>
              </a:solidFill>
              <a:latin typeface="Azeret Mono" pitchFamily="2" charset="77"/>
              <a:cs typeface="Azeret Mono" pitchFamily="2" charset="77"/>
            </a:endParaRP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7" name="Tekstvak 6">
            <a:extLst>
              <a:ext uri="{FF2B5EF4-FFF2-40B4-BE49-F238E27FC236}">
                <a16:creationId xmlns:a16="http://schemas.microsoft.com/office/drawing/2014/main" id="{DDA7093A-1B01-B016-708F-AB00927B2C3C}"/>
              </a:ext>
            </a:extLst>
          </p:cNvPr>
          <p:cNvSpPr txBox="1"/>
          <p:nvPr/>
        </p:nvSpPr>
        <p:spPr>
          <a:xfrm>
            <a:off x="1362254" y="2467036"/>
            <a:ext cx="2137273" cy="357214"/>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Architecture Quality</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2233759" y="2957541"/>
            <a:ext cx="109371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Structure</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dirty="0"/>
              <a:t>Communication</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1928405" y="3956023"/>
            <a:ext cx="138225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Data access</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353845" y="4455264"/>
            <a:ext cx="1060055"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Evolution</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5919" y="4954505"/>
            <a:ext cx="124920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Knowledge</a:t>
            </a:r>
          </a:p>
        </p:txBody>
      </p:sp>
      <p:sp>
        <p:nvSpPr>
          <p:cNvPr id="35" name="TextBox 41">
            <a:extLst>
              <a:ext uri="{FF2B5EF4-FFF2-40B4-BE49-F238E27FC236}">
                <a16:creationId xmlns:a16="http://schemas.microsoft.com/office/drawing/2014/main" id="{206057EE-BF64-9DF8-554C-8935F9D2B966}"/>
              </a:ext>
            </a:extLst>
          </p:cNvPr>
          <p:cNvSpPr txBox="1"/>
          <p:nvPr/>
        </p:nvSpPr>
        <p:spPr>
          <a:xfrm rot="4534123">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spc="140" noProof="0" dirty="0">
                <a:gradFill>
                  <a:gsLst>
                    <a:gs pos="26000">
                      <a:srgbClr val="E98C36"/>
                    </a:gs>
                    <a:gs pos="67000">
                      <a:schemeClr val="accent4"/>
                    </a:gs>
                  </a:gsLst>
                  <a:lin ang="9600000" scaled="0"/>
                </a:gradFill>
                <a:latin typeface="Noir Pro Semi Bold" pitchFamily="2" charset="0"/>
              </a:rPr>
              <a:t>SIG Architecture Quality</a:t>
            </a:r>
          </a:p>
        </p:txBody>
      </p:sp>
      <p:sp>
        <p:nvSpPr>
          <p:cNvPr id="49" name="Oval 48">
            <a:extLst>
              <a:ext uri="{FF2B5EF4-FFF2-40B4-BE49-F238E27FC236}">
                <a16:creationId xmlns:a16="http://schemas.microsoft.com/office/drawing/2014/main" id="{B2E0CFBB-7A9C-9929-8E23-E856E40EC156}"/>
              </a:ext>
            </a:extLst>
          </p:cNvPr>
          <p:cNvSpPr/>
          <p:nvPr/>
        </p:nvSpPr>
        <p:spPr>
          <a:xfrm>
            <a:off x="5543925" y="3154882"/>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pic>
        <p:nvPicPr>
          <p:cNvPr id="3" name="Graphic 2">
            <a:extLst>
              <a:ext uri="{FF2B5EF4-FFF2-40B4-BE49-F238E27FC236}">
                <a16:creationId xmlns:a16="http://schemas.microsoft.com/office/drawing/2014/main" id="{A75772D6-9BAE-9A49-D31B-F33891E3DF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0611" y="3175250"/>
            <a:ext cx="881625" cy="876046"/>
          </a:xfrm>
          <a:prstGeom prst="rect">
            <a:avLst/>
          </a:prstGeom>
        </p:spPr>
      </p:pic>
      <p:sp>
        <p:nvSpPr>
          <p:cNvPr id="81" name="Oval 43">
            <a:extLst>
              <a:ext uri="{FF2B5EF4-FFF2-40B4-BE49-F238E27FC236}">
                <a16:creationId xmlns:a16="http://schemas.microsoft.com/office/drawing/2014/main" id="{272F2F13-0896-623C-F051-A762F0144832}"/>
              </a:ext>
            </a:extLst>
          </p:cNvPr>
          <p:cNvSpPr/>
          <p:nvPr/>
        </p:nvSpPr>
        <p:spPr>
          <a:xfrm>
            <a:off x="5541883" y="3153205"/>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2" name="Footer Placeholder 4">
            <a:extLst>
              <a:ext uri="{FF2B5EF4-FFF2-40B4-BE49-F238E27FC236}">
                <a16:creationId xmlns:a16="http://schemas.microsoft.com/office/drawing/2014/main" id="{6D4C08B4-CA73-A94F-C526-596AC4A9D879}"/>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1884463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1738994" y="2119302"/>
            <a:ext cx="9839056"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15</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SIG’s Architecture Model maps the sub-characteristics to 9 system properties</a:t>
            </a:r>
          </a:p>
        </p:txBody>
      </p:sp>
      <p:sp>
        <p:nvSpPr>
          <p:cNvPr id="5" name="Afgeronde rechthoek 4">
            <a:extLst>
              <a:ext uri="{FF2B5EF4-FFF2-40B4-BE49-F238E27FC236}">
                <a16:creationId xmlns:a16="http://schemas.microsoft.com/office/drawing/2014/main" id="{C0978B86-C287-03A1-FB46-4DAE9843BB13}"/>
              </a:ext>
            </a:extLst>
          </p:cNvPr>
          <p:cNvSpPr/>
          <p:nvPr/>
        </p:nvSpPr>
        <p:spPr>
          <a:xfrm>
            <a:off x="2079450" y="2800306"/>
            <a:ext cx="5010198"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Architecture Quality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endParaRPr lang="en-US" sz="1400" noProof="0" dirty="0">
              <a:solidFill>
                <a:schemeClr val="bg1"/>
              </a:solidFill>
              <a:latin typeface="☞NOIR PRO MEDIUM" pitchFamily="2" charset="0"/>
            </a:endParaRP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1724258" y="2210220"/>
          <a:ext cx="10295802" cy="457200"/>
        </p:xfrm>
        <a:graphic>
          <a:graphicData uri="http://schemas.openxmlformats.org/drawingml/2006/table">
            <a:tbl>
              <a:tblPr>
                <a:tableStyleId>{5C22544A-7EE6-4342-B048-85BDC9FD1C3A}</a:tableStyleId>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p>
                      <a:pPr algn="ctr"/>
                      <a:r>
                        <a:rPr lang="en-US" sz="1200" b="0" i="0" noProof="0" dirty="0">
                          <a:solidFill>
                            <a:schemeClr val="bg1"/>
                          </a:solidFill>
                          <a:latin typeface="☞NOIR PRO MEDIUM" pitchFamily="2" charset="0"/>
                        </a:rPr>
                        <a:t>Code</a:t>
                      </a:r>
                    </a:p>
                    <a:p>
                      <a:pPr algn="ctr"/>
                      <a:r>
                        <a:rPr lang="en-US" sz="1200" b="0" i="0" noProof="0" dirty="0">
                          <a:solidFill>
                            <a:schemeClr val="bg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a:t>
                      </a:r>
                    </a:p>
                    <a:p>
                      <a:pPr algn="ctr"/>
                      <a:r>
                        <a:rPr lang="en-US" sz="1200" b="0" i="0" noProof="0" dirty="0">
                          <a:solidFill>
                            <a:schemeClr val="bg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Communication</a:t>
                      </a:r>
                    </a:p>
                    <a:p>
                      <a:pPr algn="ctr"/>
                      <a:r>
                        <a:rPr lang="en-US" sz="1200" b="0" i="0" noProof="0" dirty="0">
                          <a:solidFill>
                            <a:schemeClr val="bg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Data</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Bounded</a:t>
                      </a:r>
                    </a:p>
                    <a:p>
                      <a:pPr algn="ctr"/>
                      <a:r>
                        <a:rPr lang="en-US" sz="1200" b="0" i="0" noProof="0" dirty="0">
                          <a:solidFill>
                            <a:schemeClr val="bg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Knowledge</a:t>
                      </a:r>
                    </a:p>
                    <a:p>
                      <a:pPr algn="ctr"/>
                      <a:r>
                        <a:rPr lang="en-US" sz="1200" b="0" i="0" noProof="0" dirty="0">
                          <a:solidFill>
                            <a:schemeClr val="bg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6" name="Graphic 55">
            <a:extLst>
              <a:ext uri="{FF2B5EF4-FFF2-40B4-BE49-F238E27FC236}">
                <a16:creationId xmlns:a16="http://schemas.microsoft.com/office/drawing/2014/main" id="{E447C6ED-5A30-ACDA-F05F-C9EE4524B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035" y="1523454"/>
            <a:ext cx="295455" cy="293586"/>
          </a:xfrm>
          <a:prstGeom prst="rect">
            <a:avLst/>
          </a:prstGeom>
        </p:spPr>
      </p:pic>
      <p:sp>
        <p:nvSpPr>
          <p:cNvPr id="10" name="Ovaal 9">
            <a:extLst>
              <a:ext uri="{FF2B5EF4-FFF2-40B4-BE49-F238E27FC236}">
                <a16:creationId xmlns:a16="http://schemas.microsoft.com/office/drawing/2014/main" id="{EEC047B5-4675-87BB-C77D-525A9C15C89C}"/>
              </a:ext>
            </a:extLst>
          </p:cNvPr>
          <p:cNvSpPr/>
          <p:nvPr/>
        </p:nvSpPr>
        <p:spPr>
          <a:xfrm>
            <a:off x="2218728"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5654945"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6797392"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8" name="Ovaal 11">
            <a:extLst>
              <a:ext uri="{FF2B5EF4-FFF2-40B4-BE49-F238E27FC236}">
                <a16:creationId xmlns:a16="http://schemas.microsoft.com/office/drawing/2014/main" id="{6874EC91-042A-605C-8D6E-0521908AC107}"/>
              </a:ext>
            </a:extLst>
          </p:cNvPr>
          <p:cNvSpPr/>
          <p:nvPr/>
        </p:nvSpPr>
        <p:spPr>
          <a:xfrm>
            <a:off x="6797394" y="334365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9" name="Ovaal 10">
            <a:extLst>
              <a:ext uri="{FF2B5EF4-FFF2-40B4-BE49-F238E27FC236}">
                <a16:creationId xmlns:a16="http://schemas.microsoft.com/office/drawing/2014/main" id="{7E0F3336-7E00-3017-BF4A-E0D62E8C679F}"/>
              </a:ext>
            </a:extLst>
          </p:cNvPr>
          <p:cNvSpPr/>
          <p:nvPr/>
        </p:nvSpPr>
        <p:spPr>
          <a:xfrm>
            <a:off x="4512500" y="33447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0" name="Ovaal 10">
            <a:extLst>
              <a:ext uri="{FF2B5EF4-FFF2-40B4-BE49-F238E27FC236}">
                <a16:creationId xmlns:a16="http://schemas.microsoft.com/office/drawing/2014/main" id="{4CBA9FF2-A29A-B056-CCF4-3E8F6BF1E2B9}"/>
              </a:ext>
            </a:extLst>
          </p:cNvPr>
          <p:cNvSpPr/>
          <p:nvPr/>
        </p:nvSpPr>
        <p:spPr>
          <a:xfrm>
            <a:off x="337415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1" name="Ovaal 11">
            <a:extLst>
              <a:ext uri="{FF2B5EF4-FFF2-40B4-BE49-F238E27FC236}">
                <a16:creationId xmlns:a16="http://schemas.microsoft.com/office/drawing/2014/main" id="{BC564ED3-A53F-4681-0C82-114FB291ABF6}"/>
              </a:ext>
            </a:extLst>
          </p:cNvPr>
          <p:cNvSpPr/>
          <p:nvPr/>
        </p:nvSpPr>
        <p:spPr>
          <a:xfrm>
            <a:off x="795131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2" name="Ovaal 11">
            <a:extLst>
              <a:ext uri="{FF2B5EF4-FFF2-40B4-BE49-F238E27FC236}">
                <a16:creationId xmlns:a16="http://schemas.microsoft.com/office/drawing/2014/main" id="{498A5593-0A46-DE2F-22E7-1DCB40AE2D00}"/>
              </a:ext>
            </a:extLst>
          </p:cNvPr>
          <p:cNvSpPr/>
          <p:nvPr/>
        </p:nvSpPr>
        <p:spPr>
          <a:xfrm>
            <a:off x="9090244" y="3349541"/>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8" name="Ovaal 11">
            <a:extLst>
              <a:ext uri="{FF2B5EF4-FFF2-40B4-BE49-F238E27FC236}">
                <a16:creationId xmlns:a16="http://schemas.microsoft.com/office/drawing/2014/main" id="{9CC9673A-F89B-12EB-21B8-75E30C9D2080}"/>
              </a:ext>
            </a:extLst>
          </p:cNvPr>
          <p:cNvSpPr/>
          <p:nvPr/>
        </p:nvSpPr>
        <p:spPr>
          <a:xfrm>
            <a:off x="6793863" y="381479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9" name="Ovaal 10">
            <a:extLst>
              <a:ext uri="{FF2B5EF4-FFF2-40B4-BE49-F238E27FC236}">
                <a16:creationId xmlns:a16="http://schemas.microsoft.com/office/drawing/2014/main" id="{828AC1A7-9160-FEB7-DB79-3435941438F6}"/>
              </a:ext>
            </a:extLst>
          </p:cNvPr>
          <p:cNvSpPr/>
          <p:nvPr/>
        </p:nvSpPr>
        <p:spPr>
          <a:xfrm>
            <a:off x="4508969" y="381589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0" name="Ovaal 10">
            <a:extLst>
              <a:ext uri="{FF2B5EF4-FFF2-40B4-BE49-F238E27FC236}">
                <a16:creationId xmlns:a16="http://schemas.microsoft.com/office/drawing/2014/main" id="{61B86929-CAFC-4B95-0C1C-51AC05D784F0}"/>
              </a:ext>
            </a:extLst>
          </p:cNvPr>
          <p:cNvSpPr/>
          <p:nvPr/>
        </p:nvSpPr>
        <p:spPr>
          <a:xfrm>
            <a:off x="337062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1" name="Ovaal 11">
            <a:extLst>
              <a:ext uri="{FF2B5EF4-FFF2-40B4-BE49-F238E27FC236}">
                <a16:creationId xmlns:a16="http://schemas.microsoft.com/office/drawing/2014/main" id="{C9115110-8ADA-848B-D863-F06FB80DED4F}"/>
              </a:ext>
            </a:extLst>
          </p:cNvPr>
          <p:cNvSpPr/>
          <p:nvPr/>
        </p:nvSpPr>
        <p:spPr>
          <a:xfrm>
            <a:off x="794778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6" name="Ovaal 9">
            <a:extLst>
              <a:ext uri="{FF2B5EF4-FFF2-40B4-BE49-F238E27FC236}">
                <a16:creationId xmlns:a16="http://schemas.microsoft.com/office/drawing/2014/main" id="{9BDEE888-167D-966F-C1F2-B5417B5DA84B}"/>
              </a:ext>
            </a:extLst>
          </p:cNvPr>
          <p:cNvSpPr/>
          <p:nvPr/>
        </p:nvSpPr>
        <p:spPr>
          <a:xfrm>
            <a:off x="2215199" y="4275894"/>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7" name="Ovaal 10">
            <a:extLst>
              <a:ext uri="{FF2B5EF4-FFF2-40B4-BE49-F238E27FC236}">
                <a16:creationId xmlns:a16="http://schemas.microsoft.com/office/drawing/2014/main" id="{A8E55C29-424F-C86E-9059-BB74D2141A3C}"/>
              </a:ext>
            </a:extLst>
          </p:cNvPr>
          <p:cNvSpPr/>
          <p:nvPr/>
        </p:nvSpPr>
        <p:spPr>
          <a:xfrm>
            <a:off x="5651416" y="42819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9" name="Ovaal 10">
            <a:extLst>
              <a:ext uri="{FF2B5EF4-FFF2-40B4-BE49-F238E27FC236}">
                <a16:creationId xmlns:a16="http://schemas.microsoft.com/office/drawing/2014/main" id="{1C67472D-7DB0-3A78-43FA-FFD2DD48FC01}"/>
              </a:ext>
            </a:extLst>
          </p:cNvPr>
          <p:cNvSpPr/>
          <p:nvPr/>
        </p:nvSpPr>
        <p:spPr>
          <a:xfrm>
            <a:off x="4508969" y="42769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0" name="Ovaal 10">
            <a:extLst>
              <a:ext uri="{FF2B5EF4-FFF2-40B4-BE49-F238E27FC236}">
                <a16:creationId xmlns:a16="http://schemas.microsoft.com/office/drawing/2014/main" id="{1FC6962A-C121-CBE7-BDBD-17AB17923A72}"/>
              </a:ext>
            </a:extLst>
          </p:cNvPr>
          <p:cNvSpPr/>
          <p:nvPr/>
        </p:nvSpPr>
        <p:spPr>
          <a:xfrm>
            <a:off x="3370623" y="427347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2" name="Ovaal 11">
            <a:extLst>
              <a:ext uri="{FF2B5EF4-FFF2-40B4-BE49-F238E27FC236}">
                <a16:creationId xmlns:a16="http://schemas.microsoft.com/office/drawing/2014/main" id="{1F2D0029-FADC-9339-9382-49C8069FF25F}"/>
              </a:ext>
            </a:extLst>
          </p:cNvPr>
          <p:cNvSpPr/>
          <p:nvPr/>
        </p:nvSpPr>
        <p:spPr>
          <a:xfrm>
            <a:off x="9086713"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3" name="Ovaal 11">
            <a:extLst>
              <a:ext uri="{FF2B5EF4-FFF2-40B4-BE49-F238E27FC236}">
                <a16:creationId xmlns:a16="http://schemas.microsoft.com/office/drawing/2014/main" id="{6E7AABD6-937F-DAFB-B1F0-EE0A04634B74}"/>
              </a:ext>
            </a:extLst>
          </p:cNvPr>
          <p:cNvSpPr/>
          <p:nvPr/>
        </p:nvSpPr>
        <p:spPr>
          <a:xfrm>
            <a:off x="10236612"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4" name="Ovaal 11">
            <a:extLst>
              <a:ext uri="{FF2B5EF4-FFF2-40B4-BE49-F238E27FC236}">
                <a16:creationId xmlns:a16="http://schemas.microsoft.com/office/drawing/2014/main" id="{1A485405-125F-7FAC-A51E-ADEA50ADBF11}"/>
              </a:ext>
            </a:extLst>
          </p:cNvPr>
          <p:cNvSpPr/>
          <p:nvPr/>
        </p:nvSpPr>
        <p:spPr>
          <a:xfrm>
            <a:off x="11375001"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5" name="Ovaal 11">
            <a:extLst>
              <a:ext uri="{FF2B5EF4-FFF2-40B4-BE49-F238E27FC236}">
                <a16:creationId xmlns:a16="http://schemas.microsoft.com/office/drawing/2014/main" id="{A8F5F29E-A2FB-9091-E6B6-74785EEC2691}"/>
              </a:ext>
            </a:extLst>
          </p:cNvPr>
          <p:cNvSpPr/>
          <p:nvPr/>
        </p:nvSpPr>
        <p:spPr>
          <a:xfrm>
            <a:off x="10236613"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6" name="Ovaal 11">
            <a:extLst>
              <a:ext uri="{FF2B5EF4-FFF2-40B4-BE49-F238E27FC236}">
                <a16:creationId xmlns:a16="http://schemas.microsoft.com/office/drawing/2014/main" id="{2B5D5729-583E-8BF0-5AC8-486005BA6A0F}"/>
              </a:ext>
            </a:extLst>
          </p:cNvPr>
          <p:cNvSpPr/>
          <p:nvPr/>
        </p:nvSpPr>
        <p:spPr>
          <a:xfrm>
            <a:off x="11375002"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7" name="Afgeronde rechthoek 4">
            <a:extLst>
              <a:ext uri="{FF2B5EF4-FFF2-40B4-BE49-F238E27FC236}">
                <a16:creationId xmlns:a16="http://schemas.microsoft.com/office/drawing/2014/main" id="{6512E9E4-9B95-7954-3745-5B7DFC710C19}"/>
              </a:ext>
            </a:extLst>
          </p:cNvPr>
          <p:cNvSpPr/>
          <p:nvPr/>
        </p:nvSpPr>
        <p:spPr>
          <a:xfrm>
            <a:off x="3234047" y="3252689"/>
            <a:ext cx="611251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8" name="Afgeronde rechthoek 4">
            <a:extLst>
              <a:ext uri="{FF2B5EF4-FFF2-40B4-BE49-F238E27FC236}">
                <a16:creationId xmlns:a16="http://schemas.microsoft.com/office/drawing/2014/main" id="{F27BC448-4468-EA9E-A482-26966DD5E0A7}"/>
              </a:ext>
            </a:extLst>
          </p:cNvPr>
          <p:cNvSpPr/>
          <p:nvPr/>
        </p:nvSpPr>
        <p:spPr>
          <a:xfrm>
            <a:off x="3234047" y="3727474"/>
            <a:ext cx="499555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9" name="Afgeronde rechthoek 4">
            <a:extLst>
              <a:ext uri="{FF2B5EF4-FFF2-40B4-BE49-F238E27FC236}">
                <a16:creationId xmlns:a16="http://schemas.microsoft.com/office/drawing/2014/main" id="{DCBB745F-1E7A-DCD4-F9CA-B9BE6C18EB8A}"/>
              </a:ext>
            </a:extLst>
          </p:cNvPr>
          <p:cNvSpPr/>
          <p:nvPr/>
        </p:nvSpPr>
        <p:spPr>
          <a:xfrm>
            <a:off x="2079450" y="4184931"/>
            <a:ext cx="9597669"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0" name="Afgeronde rechthoek 4">
            <a:extLst>
              <a:ext uri="{FF2B5EF4-FFF2-40B4-BE49-F238E27FC236}">
                <a16:creationId xmlns:a16="http://schemas.microsoft.com/office/drawing/2014/main" id="{8FDE29E0-E140-7AE4-ABB5-5DF38D348344}"/>
              </a:ext>
            </a:extLst>
          </p:cNvPr>
          <p:cNvSpPr/>
          <p:nvPr/>
        </p:nvSpPr>
        <p:spPr>
          <a:xfrm>
            <a:off x="10137228" y="4644690"/>
            <a:ext cx="153989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 name="Footer Placeholder 4">
            <a:extLst>
              <a:ext uri="{FF2B5EF4-FFF2-40B4-BE49-F238E27FC236}">
                <a16:creationId xmlns:a16="http://schemas.microsoft.com/office/drawing/2014/main" id="{1FE26E0D-E2E6-C4AB-D5FA-F8ECAD7EE8F8}"/>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4278537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grpSp>
        <p:nvGrpSpPr>
          <p:cNvPr id="68" name="Groep 6">
            <a:extLst>
              <a:ext uri="{FF2B5EF4-FFF2-40B4-BE49-F238E27FC236}">
                <a16:creationId xmlns:a16="http://schemas.microsoft.com/office/drawing/2014/main" id="{6B0DEB51-B2FE-F834-8777-2603B3D20B39}"/>
              </a:ext>
            </a:extLst>
          </p:cNvPr>
          <p:cNvGrpSpPr/>
          <p:nvPr/>
        </p:nvGrpSpPr>
        <p:grpSpPr>
          <a:xfrm>
            <a:off x="134319" y="1137285"/>
            <a:ext cx="11923362" cy="1426530"/>
            <a:chOff x="134319" y="1137285"/>
            <a:chExt cx="11923362" cy="1426530"/>
          </a:xfrm>
        </p:grpSpPr>
        <p:sp>
          <p:nvSpPr>
            <p:cNvPr id="69" name="Rechthoek 25">
              <a:extLst>
                <a:ext uri="{FF2B5EF4-FFF2-40B4-BE49-F238E27FC236}">
                  <a16:creationId xmlns:a16="http://schemas.microsoft.com/office/drawing/2014/main" id="{F62F3BBE-F027-D806-FFCD-85040BCE7D01}"/>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0" name="Afgeronde rechthoek 36">
              <a:extLst>
                <a:ext uri="{FF2B5EF4-FFF2-40B4-BE49-F238E27FC236}">
                  <a16:creationId xmlns:a16="http://schemas.microsoft.com/office/drawing/2014/main" id="{E1A4E865-37F0-9A34-FD7D-835BA918DD1E}"/>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TextBox 39">
              <a:extLst>
                <a:ext uri="{FF2B5EF4-FFF2-40B4-BE49-F238E27FC236}">
                  <a16:creationId xmlns:a16="http://schemas.microsoft.com/office/drawing/2014/main" id="{E0DB69D7-1842-B942-7F31-5E79154351F4}"/>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4" name="Rechthoek 14">
              <a:extLst>
                <a:ext uri="{FF2B5EF4-FFF2-40B4-BE49-F238E27FC236}">
                  <a16:creationId xmlns:a16="http://schemas.microsoft.com/office/drawing/2014/main" id="{7663298D-4D08-EA75-E570-301709FB63B5}"/>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a:xfrm>
            <a:off x="381000" y="129609"/>
            <a:ext cx="3096535" cy="228145"/>
          </a:xfrm>
        </p:spPr>
        <p:txBody>
          <a:bodyPr/>
          <a:lstStyle/>
          <a:p>
            <a:r>
              <a:rPr lang="en-US" noProof="0" dirty="0"/>
              <a:t>Key findings – Architecture quality</a:t>
            </a:r>
          </a:p>
        </p:txBody>
      </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15"/>
          </p:nvPr>
        </p:nvSpPr>
        <p:spPr/>
        <p:txBody>
          <a:bodyPr/>
          <a:lstStyle/>
          <a:p>
            <a:fld id="{E242BD21-9B61-2246-BCB1-4BE5E1BEBE1C}" type="slidenum">
              <a:rPr lang="en-US" noProof="0" smtClean="0"/>
              <a:pPr/>
              <a:t>16</a:t>
            </a:fld>
            <a:endParaRPr lang="en-US" noProof="0" dirty="0"/>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a:xfrm>
            <a:off x="154800" y="440112"/>
            <a:ext cx="11880000" cy="710067"/>
          </a:xfrm>
        </p:spPr>
        <p:txBody>
          <a:bodyPr/>
          <a:lstStyle/>
          <a:p>
            <a:r>
              <a:rPr lang="en-US" noProof="0" dirty="0"/>
              <a:t>Integrationtest-kafka scores at market average (2.6 </a:t>
            </a:r>
            <a:r>
              <a:rPr lang="en-US" noProof="0" dirty="0">
                <a:latin typeface="Calibri" panose="020F0502020204030204" pitchFamily="34" charset="0"/>
                <a:cs typeface="Calibri" panose="020F0502020204030204" pitchFamily="34" charset="0"/>
              </a:rPr>
              <a:t>★</a:t>
            </a:r>
            <a:r>
              <a:rPr lang="en-US" noProof="0" dirty="0"/>
              <a:t>) for Architecture Quality</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1008249662"/>
              </p:ext>
            </p:extLst>
          </p:nvPr>
        </p:nvGraphicFramePr>
        <p:xfrm>
          <a:off x="8395675" y="3035953"/>
          <a:ext cx="3480722" cy="28426320"/>
        </p:xfrm>
        <a:graphic>
          <a:graphicData uri="http://schemas.openxmlformats.org/drawingml/2006/table">
            <a:tbl>
              <a:tblPr>
                <a:tableStyleId>{5940675A-B579-460E-94D1-54222C63F5DA}</a:tableStyleId>
              </a:tblPr>
              <a:tblGrid>
                <a:gridCol w="2046681">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28201">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1.8</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Knowledge awareness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N/A</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Team 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a:ln>
                            <a:noFill/>
                          </a:ln>
                          <a:solidFill>
                            <a:schemeClr val="tx1"/>
                          </a:solidFill>
                          <a:effectLst/>
                          <a:latin typeface="+mn-lt"/>
                          <a:ea typeface="ＭＳ Ｐゴシック" charset="0"/>
                          <a:cs typeface="TheSans B7 Bold"/>
                        </a:rPr>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rPr>
                        <a:t>N/A</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605174"/>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15 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
        <p:nvSpPr>
          <p:cNvPr id="16" name="Hexagon 15">
            <a:extLst>
              <a:ext uri="{FF2B5EF4-FFF2-40B4-BE49-F238E27FC236}">
                <a16:creationId xmlns:a16="http://schemas.microsoft.com/office/drawing/2014/main" id="{ED0ADA17-128F-6A3D-D2F9-7B6FDC4001CE}"/>
              </a:ext>
            </a:extLst>
          </p:cNvPr>
          <p:cNvSpPr/>
          <p:nvPr/>
        </p:nvSpPr>
        <p:spPr>
          <a:xfrm>
            <a:off x="707921" y="3519047"/>
            <a:ext cx="1427142" cy="1299028"/>
          </a:xfrm>
          <a:prstGeom prst="hexagon">
            <a:avLst/>
          </a:prstGeom>
          <a:solidFill>
            <a:srgbClr val="E899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noProof="0" dirty="0">
                <a:solidFill>
                  <a:schemeClr val="bg1"/>
                </a:solidFill>
              </a:rPr>
              <a:t>Knowledge</a:t>
            </a:r>
          </a:p>
          <a:p>
            <a:pPr algn="ctr">
              <a:defRPr/>
            </a:pPr>
            <a:r>
              <a:rPr kumimoji="0" lang="en-US" sz="1200" b="0" i="0" u="none" strike="noStrike" kern="1200" cap="none" spc="0" normalizeH="0" baseline="0" noProof="0" dirty="0">
                <a:ln>
                  <a:noFill/>
                </a:ln>
                <a:solidFill>
                  <a:srgbClr val="FFFFFF"/>
                </a:solidFill>
                <a:effectLst/>
                <a:uLnTx/>
                <a:uFillTx/>
                <a:latin typeface="Calibri" panose="020F0502020204030204"/>
                <a:ea typeface="+mn-ea"/>
                <a:cs typeface="+mn-cs"/>
              </a:rPr>
              <a:t>2.3 ★</a:t>
            </a:r>
            <a:endParaRPr kumimoji="0" lang="en-US" sz="1050" u="none" strike="noStrike" kern="1200" cap="none" spc="0" normalizeH="0" baseline="0" noProof="0" dirty="0">
              <a:ln>
                <a:noFill/>
              </a:ln>
              <a:solidFill>
                <a:srgbClr val="FFFFFF"/>
              </a:solidFill>
              <a:effectLst/>
              <a:uLnTx/>
              <a:uFillTx/>
              <a:latin typeface="Sigsterren" pitchFamily="2" charset="0"/>
            </a:endParaRPr>
          </a:p>
        </p:txBody>
      </p:sp>
      <p:sp>
        <p:nvSpPr>
          <p:cNvPr id="17" name="Hexagon 16">
            <a:extLst>
              <a:ext uri="{FF2B5EF4-FFF2-40B4-BE49-F238E27FC236}">
                <a16:creationId xmlns:a16="http://schemas.microsoft.com/office/drawing/2014/main" id="{5E3E2333-CF2E-CB39-4395-42A9EB95BD8E}"/>
              </a:ext>
            </a:extLst>
          </p:cNvPr>
          <p:cNvSpPr/>
          <p:nvPr/>
        </p:nvSpPr>
        <p:spPr>
          <a:xfrm>
            <a:off x="1862482" y="2869533"/>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noProof="0" dirty="0">
                <a:solidFill>
                  <a:srgbClr val="1E354B"/>
                </a:solidFill>
              </a:rPr>
              <a:t>Communication</a:t>
            </a:r>
          </a:p>
          <a:p>
            <a:pPr algn="ctr">
              <a:defRPr/>
            </a:pPr>
            <a:r>
              <a:rPr lang="en-US" sz="1200" noProof="0" dirty="0">
                <a:solidFill>
                  <a:srgbClr val="1E354B"/>
                </a:solidFill>
                <a:latin typeface="Calibri" panose="020F0502020204030204"/>
              </a:rPr>
              <a:t>2.8</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25" name="Hexagon 24">
            <a:extLst>
              <a:ext uri="{FF2B5EF4-FFF2-40B4-BE49-F238E27FC236}">
                <a16:creationId xmlns:a16="http://schemas.microsoft.com/office/drawing/2014/main" id="{7A06B6EF-AB98-D5CE-88A2-E77A3B25B548}"/>
              </a:ext>
            </a:extLst>
          </p:cNvPr>
          <p:cNvSpPr/>
          <p:nvPr/>
        </p:nvSpPr>
        <p:spPr>
          <a:xfrm>
            <a:off x="1862482" y="421297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Structure</a:t>
            </a:r>
          </a:p>
          <a:p>
            <a:pPr algn="ctr"/>
            <a:r>
              <a:rPr lang="en-US" sz="1200" noProof="0" dirty="0">
                <a:solidFill>
                  <a:srgbClr val="1E354B"/>
                </a:solidFill>
              </a:rPr>
              <a:t>2.7 ★</a:t>
            </a:r>
            <a:endParaRPr lang="en-US" sz="1050" noProof="0" dirty="0">
              <a:solidFill>
                <a:srgbClr val="1E354B"/>
              </a:solidFill>
              <a:latin typeface="Sigsterren" pitchFamily="2" charset="0"/>
            </a:endParaRPr>
          </a:p>
        </p:txBody>
      </p:sp>
      <p:sp>
        <p:nvSpPr>
          <p:cNvPr id="29" name="Hexagon 28">
            <a:extLst>
              <a:ext uri="{FF2B5EF4-FFF2-40B4-BE49-F238E27FC236}">
                <a16:creationId xmlns:a16="http://schemas.microsoft.com/office/drawing/2014/main" id="{FDF57ABA-B6E0-13E7-A935-32521C040FF3}"/>
              </a:ext>
            </a:extLst>
          </p:cNvPr>
          <p:cNvSpPr/>
          <p:nvPr/>
        </p:nvSpPr>
        <p:spPr>
          <a:xfrm>
            <a:off x="707921" y="487919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Evolution</a:t>
            </a:r>
          </a:p>
          <a:p>
            <a:pPr algn="ctr">
              <a:defRPr/>
            </a:pP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2.6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0" name="Hexagon 29">
            <a:extLst>
              <a:ext uri="{FF2B5EF4-FFF2-40B4-BE49-F238E27FC236}">
                <a16:creationId xmlns:a16="http://schemas.microsoft.com/office/drawing/2014/main" id="{B1275457-DED3-801E-77EE-D83D1FE14B37}"/>
              </a:ext>
            </a:extLst>
          </p:cNvPr>
          <p:cNvSpPr/>
          <p:nvPr/>
        </p:nvSpPr>
        <p:spPr>
          <a:xfrm>
            <a:off x="3034403" y="351904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Data Access</a:t>
            </a:r>
          </a:p>
          <a:p>
            <a:pPr algn="ctr">
              <a:defRPr/>
            </a:pPr>
            <a:r>
              <a:rPr lang="en-US" sz="1200" noProof="0" dirty="0">
                <a:solidFill>
                  <a:srgbClr val="1E354B"/>
                </a:solidFill>
                <a:latin typeface="Calibri" panose="020F0502020204030204"/>
              </a:rPr>
              <a:t>2.5</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1" name="Hexagon 30">
            <a:extLst>
              <a:ext uri="{FF2B5EF4-FFF2-40B4-BE49-F238E27FC236}">
                <a16:creationId xmlns:a16="http://schemas.microsoft.com/office/drawing/2014/main" id="{37FCEF89-149E-5604-15A3-6B3D61BA84D3}"/>
              </a:ext>
            </a:extLst>
          </p:cNvPr>
          <p:cNvSpPr/>
          <p:nvPr/>
        </p:nvSpPr>
        <p:spPr>
          <a:xfrm>
            <a:off x="3017043" y="487919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Technology Stack</a:t>
            </a:r>
          </a:p>
          <a:p>
            <a:pPr algn="ctr">
              <a:defRPr/>
            </a:pPr>
            <a:r>
              <a:rPr lang="en-US" sz="1200" noProof="0" dirty="0">
                <a:solidFill>
                  <a:srgbClr val="1E354B"/>
                </a:solidFill>
                <a:latin typeface="Calibri" panose="020F0502020204030204"/>
              </a:rPr>
              <a:t>N/A</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9" name="TextBox 38">
            <a:extLst>
              <a:ext uri="{FF2B5EF4-FFF2-40B4-BE49-F238E27FC236}">
                <a16:creationId xmlns:a16="http://schemas.microsoft.com/office/drawing/2014/main" id="{750F924A-2375-295D-4FA1-E0595583258E}"/>
              </a:ext>
            </a:extLst>
          </p:cNvPr>
          <p:cNvSpPr txBox="1"/>
          <p:nvPr/>
        </p:nvSpPr>
        <p:spPr>
          <a:xfrm>
            <a:off x="4651513" y="3050651"/>
            <a:ext cx="3288794" cy="830997"/>
          </a:xfrm>
          <a:prstGeom prst="rect">
            <a:avLst/>
          </a:prstGeom>
          <a:noFill/>
        </p:spPr>
        <p:txBody>
          <a:bodyPr wrap="square">
            <a:spAutoFit/>
          </a:bodyPr>
          <a:lstStyle/>
          <a:p>
            <a:r>
              <a:rPr lang="en-US" sz="1600" noProof="0" dirty="0" err="1"/>
              <a:t>The system's low score in Component Coupling constrains architecture, constraining evolution and imposing high-impact changes, impeding system adaptability.</a:t>
            </a:r>
            <a:endParaRPr lang="en-US" sz="1600" noProof="0" dirty="0"/>
          </a:p>
          <a:p>
            <a:br>
              <a:rPr lang="en-US" sz="1600" noProof="0" dirty="0"/>
            </a:br>
            <a:r>
              <a:rPr lang="en-US" sz="1600" noProof="0" dirty="0" err="1"/>
              <a:t>The system's high score in Bounded Evolution signifies limited updates for components, preventing excessive dependencies and knowledge centralization, and promoting a more balanced and adaptable system.</a:t>
            </a:r>
            <a:endParaRPr lang="en-US" sz="2400" noProof="0" dirty="0"/>
          </a:p>
        </p:txBody>
      </p:sp>
      <p:sp>
        <p:nvSpPr>
          <p:cNvPr id="3" name="Footer Placeholder 4">
            <a:extLst>
              <a:ext uri="{FF2B5EF4-FFF2-40B4-BE49-F238E27FC236}">
                <a16:creationId xmlns:a16="http://schemas.microsoft.com/office/drawing/2014/main" id="{B23964EB-0BB8-77A0-1CCD-99E2E09C8937}"/>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1110005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B6C70F8F-27F3-4CF3-FECD-439D34C6752D}"/>
              </a:ext>
            </a:extLst>
          </p:cNvPr>
          <p:cNvSpPr>
            <a:spLocks noGrp="1" noRot="1" noMove="1" noResize="1" noEditPoints="1" noAdjustHandles="1" noChangeArrowheads="1" noChangeShapeType="1"/>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95C27F98-D0CE-D5B9-C55D-97BBC5A5BFF2}"/>
              </a:ext>
            </a:extLst>
          </p:cNvPr>
          <p:cNvSpPr>
            <a:spLocks noGrp="1" noRot="1" noMove="1" noResize="1" noEditPoints="1" noAdjustHandles="1" noChangeArrowheads="1" noChangeShapeType="1"/>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noGrp="1" noRot="1" noMove="1" noResize="1" noEditPoints="1" noAdjustHandles="1" noChangeArrowheads="1" noChangeShapeType="1"/>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Open Source Health</a:t>
            </a:r>
          </a:p>
        </p:txBody>
      </p:sp>
      <p:sp>
        <p:nvSpPr>
          <p:cNvPr id="63" name="Text Placeholder 62">
            <a:extLst>
              <a:ext uri="{FF2B5EF4-FFF2-40B4-BE49-F238E27FC236}">
                <a16:creationId xmlns:a16="http://schemas.microsoft.com/office/drawing/2014/main" id="{4470666D-AB22-177C-6C7A-D16FF6FB971C}"/>
              </a:ext>
            </a:extLst>
          </p:cNvPr>
          <p:cNvSpPr>
            <a:spLocks noGrp="1" noRot="1" noMove="1" noResize="1" noEditPoints="1" noAdjustHandles="1" noChangeArrowheads="1" noChangeShapeType="1"/>
          </p:cNvSpPr>
          <p:nvPr>
            <p:ph type="body" sz="quarter" idx="12"/>
          </p:nvPr>
        </p:nvSpPr>
        <p:spPr>
          <a:xfrm>
            <a:off x="381600" y="129568"/>
            <a:ext cx="1663129" cy="228209"/>
          </a:xfrm>
        </p:spPr>
        <p:txBody>
          <a:bodyPr/>
          <a:lstStyle/>
          <a:p>
            <a:r>
              <a:rPr lang="en-US" noProof="0" dirty="0"/>
              <a:t>Model Introduction</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noRot="1" noMove="1" noResize="1" noEditPoints="1" noAdjustHandles="1" noChangeArrowheads="1" noChangeShapeType="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noRot="1" noMove="1" noResize="1" noEditPoints="1" noAdjustHandles="1" noChangeArrowheads="1" noChangeShapeType="1"/>
          </p:cNvSpPr>
          <p:nvPr>
            <p:ph type="title"/>
          </p:nvPr>
        </p:nvSpPr>
        <p:spPr/>
        <p:txBody>
          <a:bodyPr/>
          <a:lstStyle/>
          <a:p>
            <a:r>
              <a:rPr lang="en-US" noProof="0" dirty="0"/>
              <a:t>SIG assesses the use of Open Source and IP in five key areas</a:t>
            </a:r>
          </a:p>
        </p:txBody>
      </p:sp>
      <p:sp>
        <p:nvSpPr>
          <p:cNvPr id="8" name="Oval 7">
            <a:extLst>
              <a:ext uri="{FF2B5EF4-FFF2-40B4-BE49-F238E27FC236}">
                <a16:creationId xmlns:a16="http://schemas.microsoft.com/office/drawing/2014/main" id="{29F3FDDD-3858-C838-0AD0-612548D292DE}"/>
              </a:ext>
            </a:extLst>
          </p:cNvPr>
          <p:cNvSpPr>
            <a:spLocks noGrp="1" noRot="1" noMove="1" noResize="1" noEditPoints="1" noAdjustHandles="1" noChangeArrowheads="1" noChangeShapeType="1"/>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noGrp="1" noRot="1" noMove="1" noResize="1" noEditPoints="1" noAdjustHandles="1" noChangeArrowheads="1" noChangeShapeType="1"/>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noGrp="1" noRot="1" noMove="1" noResize="1" noEditPoints="1" noAdjustHandles="1" noChangeArrowheads="1" noChangeShapeType="1"/>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noGrp="1" noRot="1" noMove="1" noResize="1" noEditPoints="1" noAdjustHandles="1" noChangeArrowheads="1" noChangeShapeType="1"/>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noGrp="1" noRot="1" noMove="1" noResize="1" noEditPoints="1" noAdjustHandles="1" noChangeArrowheads="1" noChangeShapeType="1"/>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noGrp="1" noRot="1" noMove="1" noResize="1" noEditPoints="1" noAdjustHandles="1" noChangeArrowheads="1" noChangeShapeType="1"/>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noGrp="1" noRot="1" noMove="1" noResize="1" noEditPoints="1" noAdjustHandles="1" noChangeArrowheads="1" noChangeShapeType="1"/>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noGrp="1" noRot="1" noMove="1" noResize="1" noEditPoints="1" noAdjustHandles="1" noChangeArrowheads="1" noChangeShapeType="1"/>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noGrp="1" noRot="1" noMove="1" noResize="1" noEditPoints="1" noAdjustHandles="1" noChangeArrowheads="1" noChangeShapeType="1"/>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Open 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systems in scope are assessed for risks resulting from the use of open 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key sources for this check are configuration files of common dependency management systems (e.g.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Nuget</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Maven, and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NPM</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p:txBody>
      </p:sp>
      <p:sp>
        <p:nvSpPr>
          <p:cNvPr id="78" name="Arc 77">
            <a:extLst>
              <a:ext uri="{FF2B5EF4-FFF2-40B4-BE49-F238E27FC236}">
                <a16:creationId xmlns:a16="http://schemas.microsoft.com/office/drawing/2014/main" id="{AE202C74-D8C9-84F4-7CCF-66BFEFFF7D22}"/>
              </a:ext>
            </a:extLst>
          </p:cNvPr>
          <p:cNvSpPr>
            <a:spLocks noGrp="1" noRot="1" noMove="1" noResize="1" noEditPoints="1" noAdjustHandles="1" noChangeArrowheads="1" noChangeShapeType="1"/>
          </p:cNvSpPr>
          <p:nvPr/>
        </p:nvSpPr>
        <p:spPr>
          <a:xfrm>
            <a:off x="4403883" y="2031167"/>
            <a:ext cx="3381834" cy="3405830"/>
          </a:xfrm>
          <a:prstGeom prst="arc">
            <a:avLst>
              <a:gd name="adj1" fmla="val 18941193"/>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noGrp="1" noRot="1" noMove="1" noResize="1" noEditPoints="1" noAdjustHandles="1" noChangeArrowheads="1" noChangeShapeType="1"/>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5900476" y="1504866"/>
            <a:ext cx="403047" cy="345174"/>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Grp="1" noRot="1" noChangeAspect="1" noMove="1" noResize="1" noEditPoints="1" noAdjustHandles="1" noChangeArrowheads="1" noChangeShapeType="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noGrp="1" noRot="1" noMove="1" noResize="1" noEditPoints="1" noAdjustHandles="1" noChangeArrowheads="1" noChangeShapeType="1"/>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noGrp="1" noRot="1" noMove="1" noResize="1" noEditPoints="1" noAdjustHandles="1" noChangeArrowheads="1" noChangeShapeType="1"/>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noGrp="1" noRot="1" noMove="1" noResize="1" noEditPoints="1" noAdjustHandles="1" noChangeArrowheads="1" noChangeShapeType="1"/>
          </p:cNvSpPr>
          <p:nvPr/>
        </p:nvSpPr>
        <p:spPr>
          <a:xfrm>
            <a:off x="3323073" y="359028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noGrp="1" noRot="1" noMove="1" noResize="1" noEditPoints="1" noAdjustHandles="1" noChangeArrowheads="1" noChangeShapeType="1"/>
          </p:cNvSpPr>
          <p:nvPr/>
        </p:nvSpPr>
        <p:spPr>
          <a:xfrm>
            <a:off x="3364103" y="4093669"/>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noGrp="1" noRot="1" noMove="1" noResize="1" noEditPoints="1" noAdjustHandles="1" noChangeArrowheads="1" noChangeShapeType="1"/>
          </p:cNvSpPr>
          <p:nvPr/>
        </p:nvSpPr>
        <p:spPr>
          <a:xfrm>
            <a:off x="3496656" y="4588574"/>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7" name="Ovaal 36">
            <a:extLst>
              <a:ext uri="{FF2B5EF4-FFF2-40B4-BE49-F238E27FC236}">
                <a16:creationId xmlns:a16="http://schemas.microsoft.com/office/drawing/2014/main" id="{FCBA4432-7F01-F84E-2492-55FE1ECE0C9D}"/>
              </a:ext>
            </a:extLst>
          </p:cNvPr>
          <p:cNvSpPr>
            <a:spLocks noGrp="1" noRot="1" noMove="1" noResize="1" noEditPoints="1" noAdjustHandles="1" noChangeArrowheads="1" noChangeShapeType="1"/>
          </p:cNvSpPr>
          <p:nvPr/>
        </p:nvSpPr>
        <p:spPr>
          <a:xfrm>
            <a:off x="3728666" y="508934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noGrp="1" noRot="1" noMove="1" noResize="1" noEditPoints="1" noAdjustHandles="1" noChangeArrowheads="1" noChangeShapeType="1"/>
          </p:cNvSpPr>
          <p:nvPr/>
        </p:nvSpPr>
        <p:spPr>
          <a:xfrm>
            <a:off x="1754462" y="2957541"/>
            <a:ext cx="1573016"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Vulnerabilities</a:t>
            </a:r>
          </a:p>
        </p:txBody>
      </p:sp>
      <p:sp>
        <p:nvSpPr>
          <p:cNvPr id="39" name="Tekstvak 38">
            <a:extLst>
              <a:ext uri="{FF2B5EF4-FFF2-40B4-BE49-F238E27FC236}">
                <a16:creationId xmlns:a16="http://schemas.microsoft.com/office/drawing/2014/main" id="{7E259356-0193-A86A-4CEE-5A1813E29242}"/>
              </a:ext>
            </a:extLst>
          </p:cNvPr>
          <p:cNvSpPr txBox="1">
            <a:spLocks noGrp="1" noRot="1" noMove="1" noResize="1" noEditPoints="1" noAdjustHandles="1" noChangeArrowheads="1" noChangeShapeType="1"/>
          </p:cNvSpPr>
          <p:nvPr/>
        </p:nvSpPr>
        <p:spPr>
          <a:xfrm>
            <a:off x="880462" y="3456782"/>
            <a:ext cx="2390547"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Dependency freshness</a:t>
            </a:r>
          </a:p>
        </p:txBody>
      </p:sp>
      <p:sp>
        <p:nvSpPr>
          <p:cNvPr id="40" name="Tekstvak 39">
            <a:extLst>
              <a:ext uri="{FF2B5EF4-FFF2-40B4-BE49-F238E27FC236}">
                <a16:creationId xmlns:a16="http://schemas.microsoft.com/office/drawing/2014/main" id="{5F0DC96E-F7E0-F74E-E1F1-46E5AC30F48C}"/>
              </a:ext>
            </a:extLst>
          </p:cNvPr>
          <p:cNvSpPr txBox="1">
            <a:spLocks noGrp="1" noRot="1" noMove="1" noResize="1" noEditPoints="1" noAdjustHandles="1" noChangeArrowheads="1" noChangeShapeType="1"/>
          </p:cNvSpPr>
          <p:nvPr/>
        </p:nvSpPr>
        <p:spPr>
          <a:xfrm>
            <a:off x="1997335" y="3956023"/>
            <a:ext cx="1313329"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License Use</a:t>
            </a:r>
          </a:p>
        </p:txBody>
      </p:sp>
      <p:sp>
        <p:nvSpPr>
          <p:cNvPr id="41" name="Tekstvak 40">
            <a:extLst>
              <a:ext uri="{FF2B5EF4-FFF2-40B4-BE49-F238E27FC236}">
                <a16:creationId xmlns:a16="http://schemas.microsoft.com/office/drawing/2014/main" id="{F793CE3A-19AA-C87F-F0EE-2C1B9143E48E}"/>
              </a:ext>
            </a:extLst>
          </p:cNvPr>
          <p:cNvSpPr txBox="1">
            <a:spLocks noGrp="1" noRot="1" noMove="1" noResize="1" noEditPoints="1" noAdjustHandles="1" noChangeArrowheads="1" noChangeShapeType="1"/>
          </p:cNvSpPr>
          <p:nvPr/>
        </p:nvSpPr>
        <p:spPr>
          <a:xfrm>
            <a:off x="2515749" y="4455264"/>
            <a:ext cx="898151"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Activity</a:t>
            </a:r>
          </a:p>
        </p:txBody>
      </p:sp>
      <p:sp>
        <p:nvSpPr>
          <p:cNvPr id="43" name="Tekstvak 42">
            <a:extLst>
              <a:ext uri="{FF2B5EF4-FFF2-40B4-BE49-F238E27FC236}">
                <a16:creationId xmlns:a16="http://schemas.microsoft.com/office/drawing/2014/main" id="{27320431-995A-9BDB-9C53-5D7D2B38AA23}"/>
              </a:ext>
            </a:extLst>
          </p:cNvPr>
          <p:cNvSpPr txBox="1">
            <a:spLocks noGrp="1" noRot="1" noMove="1" noResize="1" noEditPoints="1" noAdjustHandles="1" noChangeArrowheads="1" noChangeShapeType="1"/>
          </p:cNvSpPr>
          <p:nvPr/>
        </p:nvSpPr>
        <p:spPr>
          <a:xfrm>
            <a:off x="2171116" y="4954505"/>
            <a:ext cx="1464012"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Management</a:t>
            </a:r>
          </a:p>
        </p:txBody>
      </p:sp>
      <p:sp>
        <p:nvSpPr>
          <p:cNvPr id="3" name="Footer Placeholder 4">
            <a:extLst>
              <a:ext uri="{FF2B5EF4-FFF2-40B4-BE49-F238E27FC236}">
                <a16:creationId xmlns:a16="http://schemas.microsoft.com/office/drawing/2014/main" id="{D4A056AD-5C98-2081-69A4-5F42AF9892F2}"/>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1150897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34319" y="1137285"/>
            <a:ext cx="11923362" cy="1426530"/>
            <a:chOff x="134319" y="1137285"/>
            <a:chExt cx="11923362" cy="1426530"/>
          </a:xfrm>
        </p:grpSpPr>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0" name="Rechthoek 14">
              <a:extLst>
                <a:ext uri="{FF2B5EF4-FFF2-40B4-BE49-F238E27FC236}">
                  <a16:creationId xmlns:a16="http://schemas.microsoft.com/office/drawing/2014/main" id="{1A9FF113-390D-B765-CB3B-9A27EC9E0043}"/>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57" name="Rechte verbindingslijn 79">
              <a:extLst>
                <a:ext uri="{FF2B5EF4-FFF2-40B4-BE49-F238E27FC236}">
                  <a16:creationId xmlns:a16="http://schemas.microsoft.com/office/drawing/2014/main" id="{2667CBF8-AB62-D99D-BA51-142C08F5CF79}"/>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a:xfrm>
            <a:off x="381000" y="129609"/>
            <a:ext cx="2927899" cy="228145"/>
          </a:xfrm>
        </p:spPr>
        <p:txBody>
          <a:bodyPr/>
          <a:lstStyle/>
          <a:p>
            <a:r>
              <a:rPr lang="en-US" noProof="0" dirty="0"/>
              <a:t>Key findings – Open Source and IP</a:t>
            </a:r>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154799" y="2738112"/>
            <a:ext cx="8090297" cy="3525887"/>
          </a:xfrm>
        </p:spPr>
        <p:txBody>
          <a:bodyPr/>
          <a:lstStyle/>
          <a:p>
            <a:r>
              <a:rPr lang="en-US" sz="1400" noProof="0" dirty="0" err="1"/>
              <a:t>1% of dependencies (1 in total) used in the system contain one or more known vulnerabilities.</a:t>
            </a:r>
            <a:endParaRPr lang="en-US" sz="1400" noProof="0" dirty="0"/>
          </a:p>
          <a:p>
            <a:r>
              <a:rPr lang="en-US" sz="1400" noProof="0" dirty="0" err="1"/>
              <a:t>All dependencies in the system use relatively liberal open-source licenses.</a:t>
            </a:r>
            <a:endParaRPr lang="en-US" sz="1400" noProof="0" dirty="0"/>
          </a:p>
          <a:p>
            <a:r>
              <a:rPr lang="en-US" sz="1400" noProof="0" dirty="0" err="1"/>
              <a:t>1% of dependencies (1 in total) used in the system have not been updated for over 2 years.</a:t>
            </a:r>
            <a:endParaRPr lang="en-US" sz="1400" noProof="0" dirty="0"/>
          </a:p>
          <a:p>
            <a:r>
              <a:rPr lang="en-US" sz="1400" noProof="0" dirty="0" err="1"/>
              <a:t>All dependencies in the system are managed by a package manager.</a:t>
            </a:r>
            <a:endParaRPr lang="en-US" sz="1400" noProof="0" dirty="0"/>
          </a:p>
        </p:txBody>
      </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15"/>
          </p:nvPr>
        </p:nvSpPr>
        <p:spPr/>
        <p:txBody>
          <a:bodyPr/>
          <a:lstStyle/>
          <a:p>
            <a:fld id="{E242BD21-9B61-2246-BCB1-4BE5E1BEBE1C}" type="slidenum">
              <a:rPr lang="en-US" noProof="0" smtClean="0"/>
              <a:pPr/>
              <a:t>18</a:t>
            </a:fld>
            <a:endParaRPr lang="en-US" noProof="0" dirty="0"/>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dirty="0" err="1"/>
              <a:t>Integrationtest-kafka rates market average in Open-Source health</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808742044"/>
              </p:ext>
            </p:extLst>
          </p:nvPr>
        </p:nvGraphicFramePr>
        <p:xfrm>
          <a:off x="8571496" y="3035953"/>
          <a:ext cx="3315521"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5.5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Open 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17 </a:t>
            </a:r>
            <a:r>
              <a:rPr lang="en-US" sz="800" noProof="0" dirty="0" err="1">
                <a:solidFill>
                  <a:srgbClr val="152F73"/>
                </a:solidFill>
                <a:latin typeface="Azeret Mono" pitchFamily="2" charset="77"/>
                <a:cs typeface="Azeret Mono" pitchFamily="2" charset="77"/>
              </a:rPr>
              <a:t>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5413468" y="146632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2.9</a:t>
              </a:r>
              <a:endParaRPr lang="en-US" sz="1000" noProof="0" dirty="0">
                <a:solidFill>
                  <a:schemeClr val="tx1"/>
                </a:solidFill>
                <a:latin typeface="☞NOIR PRO MEDIUM" pitchFamily="2" charset="0"/>
              </a:endParaRPr>
            </a:p>
          </p:txBody>
        </p:sp>
      </p:grpSp>
      <p:sp>
        <p:nvSpPr>
          <p:cNvPr id="3" name="Footer Placeholder 4">
            <a:extLst>
              <a:ext uri="{FF2B5EF4-FFF2-40B4-BE49-F238E27FC236}">
                <a16:creationId xmlns:a16="http://schemas.microsoft.com/office/drawing/2014/main" id="{0176990D-E053-DFD3-6F1D-6FADB027FCCD}"/>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1164340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pPr>
              <a:spcAft>
                <a:spcPts val="1000"/>
              </a:spcAft>
            </a:pPr>
            <a:r>
              <a:rPr lang="en-US" noProof="0" dirty="0" err="1">
                <a:solidFill>
                  <a:schemeClr val="tx1"/>
                </a:solidFill>
              </a:rPr>
              <a:t>1% of dependencies (1 in total) used in the system contain one or more known vulnerabilities.</a:t>
            </a:r>
            <a:endParaRPr lang="en-US" noProof="0" dirty="0">
              <a:solidFill>
                <a:schemeClr val="tx1"/>
              </a:solidFill>
            </a:endParaRPr>
          </a:p>
          <a:p>
            <a:pPr>
              <a:spcAft>
                <a:spcPts val="1000"/>
              </a:spcAft>
            </a:pPr>
            <a:r>
              <a:rPr lang="en-US" noProof="0" dirty="0" err="1">
                <a:solidFill>
                  <a:schemeClr val="tx1"/>
                </a:solidFill>
              </a:rPr>
              <a:t>All dependencies in the system use relatively liberal open-source licenses.</a:t>
            </a:r>
            <a:endParaRPr lang="en-US" noProof="0" dirty="0">
              <a:solidFill>
                <a:schemeClr val="tx1"/>
              </a:solidFill>
            </a:endParaRPr>
          </a:p>
          <a:p>
            <a:pPr>
              <a:spcAft>
                <a:spcPts val="1000"/>
              </a:spcAft>
            </a:pPr>
            <a:r>
              <a:rPr lang="en-US" noProof="0" dirty="0" err="1">
                <a:solidFill>
                  <a:schemeClr val="tx1"/>
                </a:solidFill>
              </a:rPr>
              <a:t>1% of dependencies (1 in total) used in the system have not been updated for over 2 years.</a:t>
            </a:r>
            <a:endParaRPr lang="en-US" noProof="0" dirty="0">
              <a:solidFill>
                <a:schemeClr val="tx1"/>
              </a:solidFill>
            </a:endParaRPr>
          </a:p>
          <a:p>
            <a:pPr>
              <a:spcAft>
                <a:spcPts val="1000"/>
              </a:spcAft>
            </a:pPr>
            <a:r>
              <a:rPr lang="en-US" noProof="0" dirty="0" err="1">
                <a:solidFill>
                  <a:schemeClr val="tx1"/>
                </a:solidFill>
              </a:rPr>
              <a:t>All dependencies in the system are managed by a package manager.</a:t>
            </a:r>
            <a:endParaRPr lang="en-US" noProof="0" dirty="0">
              <a:solidFill>
                <a:schemeClr val="tx1"/>
              </a:solidFill>
            </a:endParaRP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p:txBody>
          <a:bodyPr>
            <a:noAutofit/>
          </a:bodyPr>
          <a:lstStyle/>
          <a:p>
            <a:r>
              <a:rPr lang="en-US" sz="1400" noProof="0" dirty="0" err="1"/>
              <a:t>175</a:t>
            </a:r>
            <a:endParaRPr lang="en-US" sz="1400" noProof="0" dirty="0"/>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sz="1400" dirty="0"/>
              <a:t>1</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sz="1400" dirty="0"/>
              <a:t>18</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sz="1400" dirty="0"/>
              <a:t>12</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sz="1400" dirty="0"/>
              <a:t>133</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sz="1400" noProof="0" dirty="0"/>
              <a:t>11</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noProof="0" dirty="0" err="1"/>
              <a:t>1 vulnerable 3rd party open-source dependencies were identified</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p:txBody>
          <a:bodyPr/>
          <a:lstStyle/>
          <a:p>
            <a:fld id="{E242BD21-9B61-2246-BCB1-4BE5E1BEBE1C}" type="slidenum">
              <a:rPr lang="en-US" noProof="0" smtClean="0"/>
              <a:pPr/>
              <a:t>19</a:t>
            </a:fld>
            <a:endParaRPr lang="en-US" noProof="0" dirty="0"/>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US" noProof="0" dirty="0"/>
              <a:t>Key findings – Open Source and IP</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extLst>
              <p:ext uri="{D42A27DB-BD31-4B8C-83A1-F6EECF244321}">
                <p14:modId xmlns:p14="http://schemas.microsoft.com/office/powerpoint/2010/main" val="1432000087"/>
              </p:ext>
            </p:extLst>
          </p:nvPr>
        </p:nvGraphicFramePr>
        <p:xfrm>
          <a:off x="2993512" y="2856792"/>
          <a:ext cx="3102882" cy="11243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5A5F9FC3-B21B-D813-DD82-33A7B1600993}"/>
              </a:ext>
            </a:extLst>
          </p:cNvPr>
          <p:cNvSpPr>
            <a:spLocks noGrp="1"/>
          </p:cNvSpPr>
          <p:nvPr>
            <p:ph type="ftr" sz="quarter" idx="3"/>
          </p:nvPr>
        </p:nvSpPr>
        <p:spPr>
          <a:xfrm>
            <a:off x="192158" y="6392274"/>
            <a:ext cx="1763922" cy="370422"/>
          </a:xfrm>
        </p:spPr>
        <p:txBody>
          <a:bodyPr/>
          <a:lstStyle/>
          <a:p>
            <a:r>
              <a:rPr lang="nl-NL"/>
              <a:t>Generated with Sigridfor Reportgeneratordemo</a:t>
            </a:r>
            <a:br>
              <a:rPr lang="nl-NL"/>
            </a:br>
          </a:p>
        </p:txBody>
      </p:sp>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11319</TotalTime>
  <Words>2121</Words>
  <Application>Microsoft Macintosh PowerPoint</Application>
  <PresentationFormat>Widescreen</PresentationFormat>
  <Paragraphs>433</Paragraphs>
  <Slides>19</Slides>
  <Notes>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19</vt:i4>
      </vt:variant>
    </vt:vector>
  </HeadingPairs>
  <TitlesOfParts>
    <vt:vector size="37" baseType="lpstr">
      <vt:lpstr>.AppleSystemUIFont</vt:lpstr>
      <vt:lpstr>☞NOIR PRO MEDIUM</vt:lpstr>
      <vt:lpstr>Arial</vt:lpstr>
      <vt:lpstr>Azeret Mono</vt:lpstr>
      <vt:lpstr>Azeret Mono Medium</vt:lpstr>
      <vt:lpstr>Calibri</vt:lpstr>
      <vt:lpstr>Calibri Bold</vt:lpstr>
      <vt:lpstr>Calibri Regular</vt:lpstr>
      <vt:lpstr>Google Sans</vt:lpstr>
      <vt:lpstr>Helvetica Neue Bold</vt:lpstr>
      <vt:lpstr>Noir Pro</vt:lpstr>
      <vt:lpstr>Noir Pro Medium</vt:lpstr>
      <vt:lpstr>Noir Pro Semi Bold</vt:lpstr>
      <vt:lpstr>Sigsterren</vt:lpstr>
      <vt:lpstr>TheSansMono M5</vt:lpstr>
      <vt:lpstr>Wingdings</vt:lpstr>
      <vt:lpstr>Light theme (default)</vt:lpstr>
      <vt:lpstr>Dark theme</vt:lpstr>
      <vt:lpstr>PowerPoint Presentation</vt:lpstr>
      <vt:lpstr>Outline of topics</vt:lpstr>
      <vt:lpstr>Metadata overview for system SYSTEM_NAME</vt:lpstr>
      <vt:lpstr>System "SYSTEM_NAME" technical quality: management summary</vt:lpstr>
      <vt:lpstr>Outline of topics</vt:lpstr>
      <vt:lpstr>Explanation: The Cost Estimation model combines Sigrid analysis results with SIG benchmarks</vt:lpstr>
      <vt:lpstr>SYSTEM_NAME technical debt is RENOVATION_EFFORT_PY person years (RENOVATION_EFFORT_PERCENTAGE% of its volume)</vt:lpstr>
      <vt:lpstr>Explanation: The ISO 25010 standard for Maintainability has 5 sub-characteristics</vt:lpstr>
      <vt:lpstr>The SIG/TÜViT model maps the sub-characteristics to the system properties</vt:lpstr>
      <vt:lpstr>SYSTEM_NAME is a MAINT_SIZE system of SYSTEM_PY PY which scores MAINT_RATING for maintainability </vt:lpstr>
      <vt:lpstr>SYSTEM_NAME scores MAINT_RELATIVE market average for maintainability</vt:lpstr>
      <vt:lpstr>The system is VOLUME_RELATIVE in size and is built primarily in TECH_1_NAME</vt:lpstr>
      <vt:lpstr>SYSTEM_NAME has a TEST_CODE_RELATIVE test/code ratio</vt:lpstr>
      <vt:lpstr>Explanation: The Architecture Quality model has 5 sub-characteristics</vt:lpstr>
      <vt:lpstr>SIG’s Architecture Model maps the sub-characteristics to 9 system properties</vt:lpstr>
      <vt:lpstr>SYSTEM_NAME scores ARCH_AT_BELOW market average (ARCH_RATING ★) for Architecture Quality</vt:lpstr>
      <vt:lpstr>SIG assesses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216</cp:revision>
  <cp:lastPrinted>2020-04-20T09:37:43Z</cp:lastPrinted>
  <dcterms:created xsi:type="dcterms:W3CDTF">2025-10-22T11:22:13Z</dcterms:created>
  <dcterms:modified xsi:type="dcterms:W3CDTF">2026-05-19T11:23:20Z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